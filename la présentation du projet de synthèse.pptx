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22"/>
  </p:notesMasterIdLst>
  <p:handoutMasterIdLst>
    <p:handoutMasterId r:id="rId23"/>
  </p:handoutMasterIdLst>
  <p:sldIdLst>
    <p:sldId id="256" r:id="rId2"/>
    <p:sldId id="267" r:id="rId3"/>
    <p:sldId id="261" r:id="rId4"/>
    <p:sldId id="268" r:id="rId5"/>
    <p:sldId id="269" r:id="rId6"/>
    <p:sldId id="258" r:id="rId7"/>
    <p:sldId id="270" r:id="rId8"/>
    <p:sldId id="271" r:id="rId9"/>
    <p:sldId id="272" r:id="rId10"/>
    <p:sldId id="262" r:id="rId11"/>
    <p:sldId id="266" r:id="rId12"/>
    <p:sldId id="263" r:id="rId13"/>
    <p:sldId id="273" r:id="rId14"/>
    <p:sldId id="274" r:id="rId15"/>
    <p:sldId id="277" r:id="rId16"/>
    <p:sldId id="264" r:id="rId17"/>
    <p:sldId id="275" r:id="rId18"/>
    <p:sldId id="276" r:id="rId19"/>
    <p:sldId id="265" r:id="rId20"/>
    <p:sldId id="260" r:id="rId21"/>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7E93C11-C30E-42E1-BD72-C21ADCAC19A5}">
          <p14:sldIdLst>
            <p14:sldId id="256"/>
            <p14:sldId id="267"/>
            <p14:sldId id="261"/>
            <p14:sldId id="268"/>
            <p14:sldId id="269"/>
            <p14:sldId id="258"/>
            <p14:sldId id="270"/>
            <p14:sldId id="271"/>
            <p14:sldId id="272"/>
            <p14:sldId id="262"/>
            <p14:sldId id="266"/>
          </p14:sldIdLst>
        </p14:section>
        <p14:section name="Untitled Section" id="{B068D8F1-93FE-4E4B-B481-196840032C90}">
          <p14:sldIdLst>
            <p14:sldId id="263"/>
            <p14:sldId id="273"/>
            <p14:sldId id="274"/>
            <p14:sldId id="277"/>
            <p14:sldId id="264"/>
            <p14:sldId id="275"/>
            <p14:sldId id="276"/>
            <p14:sldId id="265"/>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40" d="100"/>
          <a:sy n="40" d="100"/>
        </p:scale>
        <p:origin x="20" y="58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xmlns=""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xmlns=""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3367168-A7C3-4A51-ACFE-4D76B720982F}" type="datetime1">
              <a:rPr lang="fr-FR" smtClean="0"/>
              <a:t>08/06/2026</a:t>
            </a:fld>
            <a:endParaRPr lang="fr-FR"/>
          </a:p>
        </p:txBody>
      </p:sp>
      <p:sp>
        <p:nvSpPr>
          <p:cNvPr id="4" name="Espace réservé du pied de page 3">
            <a:extLst>
              <a:ext uri="{FF2B5EF4-FFF2-40B4-BE49-F238E27FC236}">
                <a16:creationId xmlns:a16="http://schemas.microsoft.com/office/drawing/2014/main" xmlns=""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xmlns=""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fr-FR" smtClean="0"/>
              <a:t>‹N°›</a:t>
            </a:fld>
            <a:endParaRPr lang="fr-F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CB4F1169-1988-463B-A52C-EF5C9A50040C}" type="datetime1">
              <a:rPr lang="fr-FR" noProof="0" smtClean="0"/>
              <a:t>08/06/2026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fr-FR" noProof="0" smtClean="0"/>
              <a:t>‹N°›</a:t>
            </a:fld>
            <a:endParaRPr lang="fr-FR"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C6B3AB32-59DF-41F1-9618-EDFBF5049629}" type="slidenum">
              <a:rPr lang="fr-FR" smtClean="0"/>
              <a:t>1</a:t>
            </a:fld>
            <a:endParaRPr lang="fr-FR"/>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4CC78BA-3DF6-7810-ECDE-B5DEFB5578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xmlns="" id="{3121ECD8-5513-E1E0-474B-2E85F142315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xmlns="" id="{6CE6246D-8F2C-46C9-E1FB-7C1A1DA24094}"/>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xmlns="" id="{86521A49-A105-6B07-5FDB-1B8D0AF7F7A4}"/>
              </a:ext>
            </a:extLst>
          </p:cNvPr>
          <p:cNvSpPr>
            <a:spLocks noGrp="1"/>
          </p:cNvSpPr>
          <p:nvPr>
            <p:ph type="sldNum" sz="quarter" idx="5"/>
          </p:nvPr>
        </p:nvSpPr>
        <p:spPr/>
        <p:txBody>
          <a:bodyPr rtlCol="0"/>
          <a:lstStyle/>
          <a:p>
            <a:pPr rtl="0"/>
            <a:fld id="{C6B3AB32-59DF-41F1-9618-EDFBF5049629}" type="slidenum">
              <a:rPr lang="fr-FR" smtClean="0"/>
              <a:t>2</a:t>
            </a:fld>
            <a:endParaRPr lang="fr-FR"/>
          </a:p>
        </p:txBody>
      </p:sp>
    </p:spTree>
    <p:extLst>
      <p:ext uri="{BB962C8B-B14F-4D97-AF65-F5344CB8AC3E}">
        <p14:creationId xmlns:p14="http://schemas.microsoft.com/office/powerpoint/2010/main" val="3226529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C6B3AB32-59DF-41F1-9618-EDFBF5049629}" type="slidenum">
              <a:rPr lang="fr-FR" smtClean="0"/>
              <a:t>3</a:t>
            </a:fld>
            <a:endParaRPr lang="fr-FR"/>
          </a:p>
        </p:txBody>
      </p:sp>
    </p:spTree>
    <p:extLst>
      <p:ext uri="{BB962C8B-B14F-4D97-AF65-F5344CB8AC3E}">
        <p14:creationId xmlns:p14="http://schemas.microsoft.com/office/powerpoint/2010/main" val="431927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D89677C-C827-0FBB-B012-1B4F70EDDC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xmlns="" id="{7BD288D5-4D4B-7BA3-CD9D-84CB04599F3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xmlns="" id="{3EEE6C25-F9F3-A801-5516-B517BD0F924C}"/>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xmlns="" id="{22892D29-211A-529E-4970-7875A52819DA}"/>
              </a:ext>
            </a:extLst>
          </p:cNvPr>
          <p:cNvSpPr>
            <a:spLocks noGrp="1"/>
          </p:cNvSpPr>
          <p:nvPr>
            <p:ph type="sldNum" sz="quarter" idx="5"/>
          </p:nvPr>
        </p:nvSpPr>
        <p:spPr/>
        <p:txBody>
          <a:bodyPr rtlCol="0"/>
          <a:lstStyle/>
          <a:p>
            <a:pPr rtl="0"/>
            <a:fld id="{C6B3AB32-59DF-41F1-9618-EDFBF5049629}" type="slidenum">
              <a:rPr lang="fr-FR" smtClean="0"/>
              <a:t>4</a:t>
            </a:fld>
            <a:endParaRPr lang="fr-FR"/>
          </a:p>
        </p:txBody>
      </p:sp>
    </p:spTree>
    <p:extLst>
      <p:ext uri="{BB962C8B-B14F-4D97-AF65-F5344CB8AC3E}">
        <p14:creationId xmlns:p14="http://schemas.microsoft.com/office/powerpoint/2010/main" val="3842304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80461E-70FC-740B-13EF-16BFAF25118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xmlns="" id="{D6929024-0562-5CCC-5A9C-F2FE6B3F670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xmlns="" id="{A337DF44-FC1A-9F2F-2F35-68C13B04690C}"/>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xmlns="" id="{131D1F32-0DE5-66BB-8F69-753FB47702D3}"/>
              </a:ext>
            </a:extLst>
          </p:cNvPr>
          <p:cNvSpPr>
            <a:spLocks noGrp="1"/>
          </p:cNvSpPr>
          <p:nvPr>
            <p:ph type="sldNum" sz="quarter" idx="5"/>
          </p:nvPr>
        </p:nvSpPr>
        <p:spPr/>
        <p:txBody>
          <a:bodyPr rtlCol="0"/>
          <a:lstStyle/>
          <a:p>
            <a:pPr rtl="0"/>
            <a:fld id="{C6B3AB32-59DF-41F1-9618-EDFBF5049629}" type="slidenum">
              <a:rPr lang="fr-FR" smtClean="0"/>
              <a:t>5</a:t>
            </a:fld>
            <a:endParaRPr lang="fr-FR"/>
          </a:p>
        </p:txBody>
      </p:sp>
    </p:spTree>
    <p:extLst>
      <p:ext uri="{BB962C8B-B14F-4D97-AF65-F5344CB8AC3E}">
        <p14:creationId xmlns:p14="http://schemas.microsoft.com/office/powerpoint/2010/main" val="557612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C6B3AB32-59DF-41F1-9618-EDFBF5049629}" type="slidenum">
              <a:rPr lang="fr-FR" smtClean="0"/>
              <a:t>6</a:t>
            </a:fld>
            <a:endParaRPr lang="fr-FR"/>
          </a:p>
        </p:txBody>
      </p:sp>
    </p:spTree>
    <p:extLst>
      <p:ext uri="{BB962C8B-B14F-4D97-AF65-F5344CB8AC3E}">
        <p14:creationId xmlns:p14="http://schemas.microsoft.com/office/powerpoint/2010/main" val="2289636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15987D-B66D-5A24-843F-E7A2E172D4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xmlns="" id="{5597F4DB-39AE-A7D5-166D-ABFE69E93B1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xmlns="" id="{7C878E3A-C010-AD2E-DAD6-A06F8A722000}"/>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xmlns="" id="{E0A6F5C0-1FBE-3897-3882-CF419910AAD3}"/>
              </a:ext>
            </a:extLst>
          </p:cNvPr>
          <p:cNvSpPr>
            <a:spLocks noGrp="1"/>
          </p:cNvSpPr>
          <p:nvPr>
            <p:ph type="sldNum" sz="quarter" idx="5"/>
          </p:nvPr>
        </p:nvSpPr>
        <p:spPr/>
        <p:txBody>
          <a:bodyPr/>
          <a:lstStyle/>
          <a:p>
            <a:pPr rtl="0"/>
            <a:fld id="{C6B3AB32-59DF-41F1-9618-EDFBF5049629}" type="slidenum">
              <a:rPr lang="fr-FR" smtClean="0"/>
              <a:t>7</a:t>
            </a:fld>
            <a:endParaRPr lang="fr-FR"/>
          </a:p>
        </p:txBody>
      </p:sp>
    </p:spTree>
    <p:extLst>
      <p:ext uri="{BB962C8B-B14F-4D97-AF65-F5344CB8AC3E}">
        <p14:creationId xmlns:p14="http://schemas.microsoft.com/office/powerpoint/2010/main" val="2043936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DAA3DC1-C080-EE0F-0C54-DE3222EF4F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xmlns="" id="{0883E234-FCEB-1804-BC4C-A20DE42A6CA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xmlns="" id="{83AF92C9-FA70-D0A1-7E38-BDEC1071995B}"/>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xmlns="" id="{188475F8-0CAD-1F9F-834B-6DF4D1FBC899}"/>
              </a:ext>
            </a:extLst>
          </p:cNvPr>
          <p:cNvSpPr>
            <a:spLocks noGrp="1"/>
          </p:cNvSpPr>
          <p:nvPr>
            <p:ph type="sldNum" sz="quarter" idx="5"/>
          </p:nvPr>
        </p:nvSpPr>
        <p:spPr/>
        <p:txBody>
          <a:bodyPr/>
          <a:lstStyle/>
          <a:p>
            <a:pPr rtl="0"/>
            <a:fld id="{C6B3AB32-59DF-41F1-9618-EDFBF5049629}" type="slidenum">
              <a:rPr lang="fr-FR" smtClean="0"/>
              <a:t>8</a:t>
            </a:fld>
            <a:endParaRPr lang="fr-FR"/>
          </a:p>
        </p:txBody>
      </p:sp>
    </p:spTree>
    <p:extLst>
      <p:ext uri="{BB962C8B-B14F-4D97-AF65-F5344CB8AC3E}">
        <p14:creationId xmlns:p14="http://schemas.microsoft.com/office/powerpoint/2010/main" val="4238717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EB1C99F-3EC0-8AF1-9029-9D9B24415C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xmlns="" id="{D08822DB-B7F6-AEE2-F3BC-8EB27C67036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xmlns="" id="{4F936B6D-4FB8-402E-1348-A7F2A07A1A2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xmlns="" id="{B383E8B2-1083-16CE-4774-7B83AA41ECA5}"/>
              </a:ext>
            </a:extLst>
          </p:cNvPr>
          <p:cNvSpPr>
            <a:spLocks noGrp="1"/>
          </p:cNvSpPr>
          <p:nvPr>
            <p:ph type="sldNum" sz="quarter" idx="5"/>
          </p:nvPr>
        </p:nvSpPr>
        <p:spPr/>
        <p:txBody>
          <a:bodyPr/>
          <a:lstStyle/>
          <a:p>
            <a:pPr rtl="0"/>
            <a:fld id="{C6B3AB32-59DF-41F1-9618-EDFBF5049629}" type="slidenum">
              <a:rPr lang="fr-FR" smtClean="0"/>
              <a:t>9</a:t>
            </a:fld>
            <a:endParaRPr lang="fr-FR"/>
          </a:p>
        </p:txBody>
      </p:sp>
    </p:spTree>
    <p:extLst>
      <p:ext uri="{BB962C8B-B14F-4D97-AF65-F5344CB8AC3E}">
        <p14:creationId xmlns:p14="http://schemas.microsoft.com/office/powerpoint/2010/main" val="904497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C6B3AB32-59DF-41F1-9618-EDFBF5049629}" type="slidenum">
              <a:rPr lang="fr-FR" smtClean="0"/>
              <a:t>20</a:t>
            </a:fld>
            <a:endParaRPr lang="fr-FR"/>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n-US" noProof="0"/>
              <a:t>Click to edit Master title style</a:t>
            </a:r>
            <a:endParaRPr lang="fr-FR" noProof="0"/>
          </a:p>
        </p:txBody>
      </p:sp>
      <p:sp>
        <p:nvSpPr>
          <p:cNvPr id="3" name="Sous-titr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US" noProof="0"/>
              <a:t>Click to edit Master subtitle style</a:t>
            </a:r>
            <a:endParaRPr lang="fr-FR" noProof="0"/>
          </a:p>
        </p:txBody>
      </p:sp>
      <p:sp>
        <p:nvSpPr>
          <p:cNvPr id="4" name="Espace réservé de la date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3F3B20A7-A3FE-46B9-84EA-B4257BA7E60C}" type="datetime1">
              <a:rPr lang="fr-FR" noProof="0" smtClean="0"/>
              <a:t>08/06/2026</a:t>
            </a:fld>
            <a:endParaRPr lang="fr-FR" noProof="0"/>
          </a:p>
        </p:txBody>
      </p:sp>
      <p:sp>
        <p:nvSpPr>
          <p:cNvPr id="5" name="Espace réservé du pied de page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fr-FR" noProof="0"/>
          </a:p>
        </p:txBody>
      </p:sp>
      <p:sp>
        <p:nvSpPr>
          <p:cNvPr id="6" name="Espace réservé du numéro de diapositive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p:cNvSpPr>
            <a:spLocks noGrp="1"/>
          </p:cNvSpPr>
          <p:nvPr>
            <p:ph type="title"/>
          </p:nvPr>
        </p:nvSpPr>
        <p:spPr>
          <a:xfrm>
            <a:off x="581192" y="702156"/>
            <a:ext cx="11029616" cy="1013800"/>
          </a:xfrm>
        </p:spPr>
        <p:txBody>
          <a:bodyPr rtlCol="0"/>
          <a:lstStyle/>
          <a:p>
            <a:pPr rtl="0"/>
            <a:r>
              <a:rPr lang="en-US" noProof="0"/>
              <a:t>Click to edit Master title style</a:t>
            </a:r>
            <a:endParaRPr lang="fr-FR" noProof="0"/>
          </a:p>
        </p:txBody>
      </p:sp>
      <p:sp>
        <p:nvSpPr>
          <p:cNvPr id="3" name="Espace réservé du contenu 2"/>
          <p:cNvSpPr>
            <a:spLocks noGrp="1"/>
          </p:cNvSpPr>
          <p:nvPr>
            <p:ph idx="1" hasCustomPrompt="1"/>
          </p:nvPr>
        </p:nvSpPr>
        <p:spPr>
          <a:xfrm>
            <a:off x="581192" y="2180496"/>
            <a:ext cx="11029615" cy="3678303"/>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29B34D2F-0B02-482E-ABD2-95D8C2FF2A58}" type="datetime1">
              <a:rPr lang="fr-FR" noProof="0" smtClean="0"/>
              <a:t>08/06/2026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a:xfrm>
            <a:off x="10558300" y="5956137"/>
            <a:ext cx="1052508" cy="365125"/>
          </a:xfrm>
        </p:spPr>
        <p:txBody>
          <a:bodyPr rtlCol="0"/>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n-US" noProof="0"/>
              <a:t>Click to edit Master title style</a:t>
            </a:r>
            <a:endParaRPr lang="fr-FR" noProof="0"/>
          </a:p>
        </p:txBody>
      </p:sp>
      <p:sp>
        <p:nvSpPr>
          <p:cNvPr id="3" name="Espace réservé du texte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a:t>Modifiez les styles du texte du masque</a:t>
            </a:r>
          </a:p>
        </p:txBody>
      </p:sp>
      <p:sp>
        <p:nvSpPr>
          <p:cNvPr id="4" name="Espace réservé de la date 3"/>
          <p:cNvSpPr>
            <a:spLocks noGrp="1"/>
          </p:cNvSpPr>
          <p:nvPr>
            <p:ph type="dt" sz="half" idx="10"/>
          </p:nvPr>
        </p:nvSpPr>
        <p:spPr/>
        <p:txBody>
          <a:bodyPr rtlCol="0"/>
          <a:lstStyle>
            <a:lvl1pPr>
              <a:defRPr>
                <a:solidFill>
                  <a:schemeClr val="accent1">
                    <a:lumMod val="75000"/>
                    <a:lumOff val="25000"/>
                  </a:schemeClr>
                </a:solidFill>
              </a:defRPr>
            </a:lvl1pPr>
          </a:lstStyle>
          <a:p>
            <a:pPr rtl="0"/>
            <a:fld id="{126ECFBB-4871-428F-B4AE-1EF357E63674}" type="datetime1">
              <a:rPr lang="fr-FR" noProof="0" smtClean="0"/>
              <a:t>08/06/2026</a:t>
            </a:fld>
            <a:endParaRPr lang="fr-FR" noProof="0"/>
          </a:p>
        </p:txBody>
      </p:sp>
      <p:sp>
        <p:nvSpPr>
          <p:cNvPr id="5" name="Espace réservé du pied de page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fr-FR" noProof="0"/>
          </a:p>
        </p:txBody>
      </p:sp>
      <p:sp>
        <p:nvSpPr>
          <p:cNvPr id="6" name="Espace réservé du numéro de diapositiv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p:cNvSpPr>
            <a:spLocks noGrp="1"/>
          </p:cNvSpPr>
          <p:nvPr>
            <p:ph type="title"/>
          </p:nvPr>
        </p:nvSpPr>
        <p:spPr>
          <a:xfrm>
            <a:off x="581193" y="729658"/>
            <a:ext cx="11029616" cy="988332"/>
          </a:xfrm>
        </p:spPr>
        <p:txBody>
          <a:bodyPr rtlCol="0"/>
          <a:lstStyle/>
          <a:p>
            <a:pPr rtl="0"/>
            <a:r>
              <a:rPr lang="en-US" noProof="0"/>
              <a:t>Click to edit Master title style</a:t>
            </a:r>
            <a:endParaRPr lang="fr-FR" noProof="0"/>
          </a:p>
        </p:txBody>
      </p:sp>
      <p:sp>
        <p:nvSpPr>
          <p:cNvPr id="3" name="Espace réservé du contenu 2"/>
          <p:cNvSpPr>
            <a:spLocks noGrp="1"/>
          </p:cNvSpPr>
          <p:nvPr>
            <p:ph sz="half" idx="1" hasCustomPrompt="1"/>
          </p:nvPr>
        </p:nvSpPr>
        <p:spPr>
          <a:xfrm>
            <a:off x="581193" y="2228003"/>
            <a:ext cx="5422390"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6188417" y="2228003"/>
            <a:ext cx="5422392"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p:cNvSpPr>
            <a:spLocks noGrp="1"/>
          </p:cNvSpPr>
          <p:nvPr>
            <p:ph type="dt" sz="half" idx="10"/>
          </p:nvPr>
        </p:nvSpPr>
        <p:spPr/>
        <p:txBody>
          <a:bodyPr rtlCol="0"/>
          <a:lstStyle/>
          <a:p>
            <a:pPr rtl="0"/>
            <a:fld id="{75517F14-0D9C-452E-A596-36902551AE9C}" type="datetime1">
              <a:rPr lang="fr-FR" noProof="0" smtClean="0"/>
              <a:t>08/06/2026</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re 1"/>
          <p:cNvSpPr>
            <a:spLocks noGrp="1"/>
          </p:cNvSpPr>
          <p:nvPr>
            <p:ph type="title"/>
          </p:nvPr>
        </p:nvSpPr>
        <p:spPr>
          <a:xfrm>
            <a:off x="581193" y="729658"/>
            <a:ext cx="11029616" cy="988332"/>
          </a:xfrm>
        </p:spPr>
        <p:txBody>
          <a:bodyPr rtlCol="0"/>
          <a:lstStyle/>
          <a:p>
            <a:pPr rtl="0"/>
            <a:r>
              <a:rPr lang="en-US" noProof="0"/>
              <a:t>Click to edit Master title style</a:t>
            </a:r>
            <a:endParaRPr lang="fr-FR" noProof="0"/>
          </a:p>
        </p:txBody>
      </p:sp>
      <p:sp>
        <p:nvSpPr>
          <p:cNvPr id="3" name="Espace réservé du texte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p:cNvSpPr>
            <a:spLocks noGrp="1"/>
          </p:cNvSpPr>
          <p:nvPr>
            <p:ph sz="half" idx="2" hasCustomPrompt="1"/>
          </p:nvPr>
        </p:nvSpPr>
        <p:spPr>
          <a:xfrm>
            <a:off x="581194"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6" name="Espace réservé du contenu 5"/>
          <p:cNvSpPr>
            <a:spLocks noGrp="1"/>
          </p:cNvSpPr>
          <p:nvPr>
            <p:ph sz="quarter" idx="4" hasCustomPrompt="1"/>
          </p:nvPr>
        </p:nvSpPr>
        <p:spPr>
          <a:xfrm>
            <a:off x="6217709"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p:cNvSpPr>
            <a:spLocks noGrp="1"/>
          </p:cNvSpPr>
          <p:nvPr>
            <p:ph type="dt" sz="half" idx="10"/>
          </p:nvPr>
        </p:nvSpPr>
        <p:spPr/>
        <p:txBody>
          <a:bodyPr rtlCol="0"/>
          <a:lstStyle/>
          <a:p>
            <a:pPr rtl="0"/>
            <a:fld id="{FA9BF800-A62B-4735-B9A7-5450007C0A78}" type="datetime1">
              <a:rPr lang="fr-FR" noProof="0" smtClean="0"/>
              <a:t>08/06/2026</a:t>
            </a:fld>
            <a:endParaRPr lang="fr-FR" noProof="0"/>
          </a:p>
        </p:txBody>
      </p:sp>
      <p:sp>
        <p:nvSpPr>
          <p:cNvPr id="8" name="Espace réservé d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rtlCol="0"/>
          <a:lstStyle/>
          <a:p>
            <a:pPr rtl="0"/>
            <a:fld id="{F47267E0-A979-4430-94B4-54611641D8EE}" type="datetime1">
              <a:rPr lang="fr-FR" noProof="0" smtClean="0"/>
              <a:t>08/06/2026</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re 1"/>
          <p:cNvSpPr>
            <a:spLocks noGrp="1"/>
          </p:cNvSpPr>
          <p:nvPr>
            <p:ph type="title"/>
          </p:nvPr>
        </p:nvSpPr>
        <p:spPr>
          <a:xfrm>
            <a:off x="575894" y="729658"/>
            <a:ext cx="11029616" cy="988332"/>
          </a:xfrm>
        </p:spPr>
        <p:txBody>
          <a:bodyPr rtlCol="0"/>
          <a:lstStyle/>
          <a:p>
            <a:pPr rtl="0"/>
            <a:r>
              <a:rPr lang="en-US" noProof="0"/>
              <a:t>Click to edit Master title style</a:t>
            </a:r>
            <a:endParaRPr lang="fr-FR" noProof="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C58A73B6-B077-488D-82CF-3056D5BAC73E}" type="datetime1">
              <a:rPr lang="fr-FR" noProof="0" smtClean="0"/>
              <a:t>08/06/2026</a:t>
            </a:fld>
            <a:endParaRPr lang="fr-FR" noProof="0"/>
          </a:p>
        </p:txBody>
      </p:sp>
      <p:sp>
        <p:nvSpPr>
          <p:cNvPr id="3" name="Espace réservé d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n-US" noProof="0"/>
              <a:t>Click to edit Master title style</a:t>
            </a:r>
            <a:endParaRPr lang="fr-FR" noProof="0"/>
          </a:p>
        </p:txBody>
      </p:sp>
      <p:sp>
        <p:nvSpPr>
          <p:cNvPr id="3" name="Espace réservé du contenu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 du masque</a:t>
            </a:r>
          </a:p>
        </p:txBody>
      </p:sp>
      <p:sp>
        <p:nvSpPr>
          <p:cNvPr id="5" name="Espace réservé de la date 4"/>
          <p:cNvSpPr>
            <a:spLocks noGrp="1"/>
          </p:cNvSpPr>
          <p:nvPr>
            <p:ph type="dt" sz="half" idx="10"/>
          </p:nvPr>
        </p:nvSpPr>
        <p:spPr/>
        <p:txBody>
          <a:bodyPr rtlCol="0"/>
          <a:lstStyle>
            <a:lvl1pPr>
              <a:defRPr>
                <a:solidFill>
                  <a:schemeClr val="accent1">
                    <a:lumMod val="75000"/>
                    <a:lumOff val="25000"/>
                  </a:schemeClr>
                </a:solidFill>
              </a:defRPr>
            </a:lvl1pPr>
          </a:lstStyle>
          <a:p>
            <a:pPr rtl="0"/>
            <a:fld id="{98F108A3-3495-404B-9869-1BA62DF0E465}" type="datetime1">
              <a:rPr lang="fr-FR" noProof="0" smtClean="0"/>
              <a:t>08/06/2026</a:t>
            </a:fld>
            <a:endParaRPr lang="fr-FR" noProof="0"/>
          </a:p>
        </p:txBody>
      </p:sp>
      <p:sp>
        <p:nvSpPr>
          <p:cNvPr id="6" name="Espace réservé du pied de page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fr-FR" noProof="0"/>
          </a:p>
        </p:txBody>
      </p:sp>
      <p:sp>
        <p:nvSpPr>
          <p:cNvPr id="7" name="Espace réservé du numéro de diapositive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n-US" noProof="0"/>
              <a:t>Click to edit Master title style</a:t>
            </a:r>
            <a:endParaRPr lang="fr-FR" noProof="0"/>
          </a:p>
        </p:txBody>
      </p:sp>
      <p:sp>
        <p:nvSpPr>
          <p:cNvPr id="3" name="Espace réservé d’image 2"/>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 du masque</a:t>
            </a:r>
          </a:p>
        </p:txBody>
      </p:sp>
      <p:sp>
        <p:nvSpPr>
          <p:cNvPr id="5" name="Espace réservé de la date 4"/>
          <p:cNvSpPr>
            <a:spLocks noGrp="1"/>
          </p:cNvSpPr>
          <p:nvPr>
            <p:ph type="dt" sz="half" idx="10"/>
          </p:nvPr>
        </p:nvSpPr>
        <p:spPr/>
        <p:txBody>
          <a:bodyPr rtlCol="0"/>
          <a:lstStyle/>
          <a:p>
            <a:pPr rtl="0"/>
            <a:fld id="{94B550F6-4238-41AE-B6F4-4D375745C983}" type="datetime1">
              <a:rPr lang="fr-FR" noProof="0" smtClean="0"/>
              <a:t>08/06/2026</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re 1"/>
          <p:cNvSpPr>
            <a:spLocks noGrp="1"/>
          </p:cNvSpPr>
          <p:nvPr>
            <p:ph type="title"/>
          </p:nvPr>
        </p:nvSpPr>
        <p:spPr>
          <a:xfrm>
            <a:off x="581192" y="702156"/>
            <a:ext cx="11029616" cy="1013800"/>
          </a:xfrm>
        </p:spPr>
        <p:txBody>
          <a:bodyPr rtlCol="0"/>
          <a:lstStyle/>
          <a:p>
            <a:pPr rtl="0"/>
            <a:r>
              <a:rPr lang="en-US" noProof="0"/>
              <a:t>Click to edit Master title style</a:t>
            </a:r>
            <a:endParaRPr lang="fr-FR" noProof="0"/>
          </a:p>
        </p:txBody>
      </p:sp>
      <p:sp>
        <p:nvSpPr>
          <p:cNvPr id="3" name="Espace réservé du texte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7E5E3FBB-57D2-4FB3-B51E-0FDE8CEE6791}" type="datetime1">
              <a:rPr lang="fr-FR" noProof="0" smtClean="0"/>
              <a:t>08/06/2026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vertical 1"/>
          <p:cNvSpPr>
            <a:spLocks noGrp="1"/>
          </p:cNvSpPr>
          <p:nvPr>
            <p:ph type="title" orient="vert"/>
          </p:nvPr>
        </p:nvSpPr>
        <p:spPr>
          <a:xfrm>
            <a:off x="8839201" y="675726"/>
            <a:ext cx="2004164" cy="5183073"/>
          </a:xfrm>
        </p:spPr>
        <p:txBody>
          <a:bodyPr vert="eaVert" rtlCol="0"/>
          <a:lstStyle/>
          <a:p>
            <a:pPr rtl="0"/>
            <a:r>
              <a:rPr lang="en-US" noProof="0"/>
              <a:t>Click to edit Master title style</a:t>
            </a:r>
            <a:endParaRPr lang="fr-FR" noProof="0"/>
          </a:p>
        </p:txBody>
      </p:sp>
      <p:sp>
        <p:nvSpPr>
          <p:cNvPr id="3" name="Espace réservé du texte vertical 2"/>
          <p:cNvSpPr>
            <a:spLocks noGrp="1"/>
          </p:cNvSpPr>
          <p:nvPr>
            <p:ph type="body" orient="vert" idx="1" hasCustomPrompt="1"/>
          </p:nvPr>
        </p:nvSpPr>
        <p:spPr>
          <a:xfrm>
            <a:off x="774923" y="675726"/>
            <a:ext cx="7896279" cy="5183073"/>
          </a:xfrm>
        </p:spPr>
        <p:txBody>
          <a:bodyPr vert="eaVert" rtlCol="0" anchor="t"/>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BE9F9435-70D7-42BA-8564-5EC34B97B69E}" type="datetime1">
              <a:rPr lang="fr-FR" noProof="0" smtClean="0"/>
              <a:t>08/06/2026</a:t>
            </a:fld>
            <a:endParaRPr lang="fr-FR" noProof="0"/>
          </a:p>
        </p:txBody>
      </p:sp>
      <p:sp>
        <p:nvSpPr>
          <p:cNvPr id="5" name="Espace réservé du pied de page 4"/>
          <p:cNvSpPr>
            <a:spLocks noGrp="1"/>
          </p:cNvSpPr>
          <p:nvPr>
            <p:ph type="ftr" sz="quarter" idx="11"/>
          </p:nvPr>
        </p:nvSpPr>
        <p:spPr>
          <a:xfrm>
            <a:off x="774923" y="5951811"/>
            <a:ext cx="7896279" cy="365125"/>
          </a:xfrm>
        </p:spPr>
        <p:txBody>
          <a:bodyPr rtlCol="0"/>
          <a:lstStyle/>
          <a:p>
            <a:pPr rtl="0"/>
            <a:endParaRPr lang="fr-FR" noProof="0"/>
          </a:p>
        </p:txBody>
      </p:sp>
      <p:sp>
        <p:nvSpPr>
          <p:cNvPr id="6" name="Espace réservé du numéro de diapositive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fr-FR" noProof="0" smtClean="0"/>
              <a:pPr rtl="0"/>
              <a:t>‹N°›</a:t>
            </a:fld>
            <a:endParaRPr lang="fr-FR"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fr-FR" noProof="0"/>
              <a:t>Modifiez le style du titre</a:t>
            </a:r>
          </a:p>
        </p:txBody>
      </p:sp>
      <p:sp>
        <p:nvSpPr>
          <p:cNvPr id="3" name="Espace réservé du texte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BBB97F02-5EDD-4BF6-BE41-AB41D1FEABF8}" type="datetime1">
              <a:rPr lang="fr-FR" noProof="0" smtClean="0"/>
              <a:t>08/06/2026</a:t>
            </a:fld>
            <a:endParaRPr lang="fr-FR" noProof="0"/>
          </a:p>
        </p:txBody>
      </p:sp>
      <p:sp>
        <p:nvSpPr>
          <p:cNvPr id="5" name="Espace réservé du pied de page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fr-FR" noProof="0"/>
          </a:p>
        </p:txBody>
      </p:sp>
      <p:sp>
        <p:nvSpPr>
          <p:cNvPr id="6" name="Espace réservé du numéro de diapositive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fr-FR" noProof="0" smtClean="0"/>
              <a:pPr rtl="0"/>
              <a:t>‹N°›</a:t>
            </a:fld>
            <a:endParaRPr lang="fr-FR" noProof="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xmlns="" id="{493D4EDA-58E0-40CC-B3CA-14CDEB349D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7" name="Image 6" descr="Connexions numériques">
            <a:extLst>
              <a:ext uri="{FF2B5EF4-FFF2-40B4-BE49-F238E27FC236}">
                <a16:creationId xmlns:a16="http://schemas.microsoft.com/office/drawing/2014/main" xmlns=""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12506" y="10"/>
            <a:ext cx="12191980" cy="6857990"/>
          </a:xfrm>
          <a:prstGeom prst="rect">
            <a:avLst/>
          </a:prstGeom>
        </p:spPr>
      </p:pic>
      <p:grpSp>
        <p:nvGrpSpPr>
          <p:cNvPr id="17" name="Groupe 16">
            <a:extLst>
              <a:ext uri="{FF2B5EF4-FFF2-40B4-BE49-F238E27FC236}">
                <a16:creationId xmlns:a16="http://schemas.microsoft.com/office/drawing/2014/main" xmlns="" id="{AA9EB0BC-A85E-4C26-B355-5DFCEF6CCB4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xmlns="" id="{3643E56B-BD42-413D-B17D-7958270F5DE4}"/>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xmlns=""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Rectangle 18">
              <a:extLst>
                <a:ext uri="{FF2B5EF4-FFF2-40B4-BE49-F238E27FC236}">
                  <a16:creationId xmlns:a16="http://schemas.microsoft.com/office/drawing/2014/main" xmlns="" id="{96C04F74-9467-4FA5-95DC-8D481A29740E}"/>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xmlns=""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0" name="Rectangle 19">
              <a:extLst>
                <a:ext uri="{FF2B5EF4-FFF2-40B4-BE49-F238E27FC236}">
                  <a16:creationId xmlns:a16="http://schemas.microsoft.com/office/drawing/2014/main" xmlns="" id="{D73DE1C3-5C37-42E9-A3F0-256F1938327C}"/>
                </a:ext>
                <a:ext uri="{C183D7F6-B498-43B3-948B-1728B52AA6E4}">
                  <adec:decorative xmlns:adec="http://schemas.microsoft.com/office/drawing/2017/decorative" xmlns="" val="1"/>
                </a:ext>
              </a:extLst>
            </p:cNvPr>
            <p:cNvSpPr>
              <a:spLocks/>
            </p:cNvSpPr>
            <p:nvPr>
              <p:extLst>
                <p:ext uri="{386F3935-93C4-4BCD-93E2-E3B085C9AB24}">
                  <p16:designElem xmlns:p16="http://schemas.microsoft.com/office/powerpoint/2015/main" xmlns=""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2" name="Rectangle 21">
            <a:extLst>
              <a:ext uri="{FF2B5EF4-FFF2-40B4-BE49-F238E27FC236}">
                <a16:creationId xmlns:a16="http://schemas.microsoft.com/office/drawing/2014/main" xmlns="" id="{4A2E7EC3-E07C-46CE-9B25-41865A5068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xmlns=""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Sous-titre 2">
            <a:extLst>
              <a:ext uri="{FF2B5EF4-FFF2-40B4-BE49-F238E27FC236}">
                <a16:creationId xmlns:a16="http://schemas.microsoft.com/office/drawing/2014/main" xmlns="" id="{48B6CF59-4E5B-494D-A2F7-97ADD01E6497}"/>
              </a:ext>
            </a:extLst>
          </p:cNvPr>
          <p:cNvSpPr>
            <a:spLocks noGrp="1"/>
          </p:cNvSpPr>
          <p:nvPr>
            <p:ph type="subTitle" idx="1"/>
          </p:nvPr>
        </p:nvSpPr>
        <p:spPr>
          <a:xfrm>
            <a:off x="581194" y="4653022"/>
            <a:ext cx="10924041" cy="1620455"/>
          </a:xfrm>
        </p:spPr>
        <p:txBody>
          <a:bodyPr numCol="2" rtlCol="0">
            <a:noAutofit/>
          </a:bodyPr>
          <a:lstStyle/>
          <a:p>
            <a:pPr algn="ctr"/>
            <a:r>
              <a:rPr lang="fr-FR" sz="1400" b="1" dirty="0">
                <a:solidFill>
                  <a:schemeClr val="bg1"/>
                </a:solidFill>
              </a:rPr>
              <a:t>Réalisé par :</a:t>
            </a:r>
            <a:endParaRPr lang="fr-FR" sz="1400" dirty="0">
              <a:solidFill>
                <a:schemeClr val="bg1"/>
              </a:solidFill>
            </a:endParaRPr>
          </a:p>
          <a:p>
            <a:pPr algn="ctr"/>
            <a:r>
              <a:rPr lang="fr-FR" sz="1400" dirty="0">
                <a:solidFill>
                  <a:schemeClr val="bg1"/>
                </a:solidFill>
              </a:rPr>
              <a:t>Sara Tai </a:t>
            </a:r>
          </a:p>
          <a:p>
            <a:pPr algn="ctr"/>
            <a:r>
              <a:rPr lang="fr-FR" sz="1400" dirty="0" err="1">
                <a:solidFill>
                  <a:schemeClr val="bg1"/>
                </a:solidFill>
              </a:rPr>
              <a:t>Ghizlane</a:t>
            </a:r>
            <a:r>
              <a:rPr lang="fr-FR" sz="1400" dirty="0">
                <a:solidFill>
                  <a:schemeClr val="bg1"/>
                </a:solidFill>
              </a:rPr>
              <a:t> El Khyat </a:t>
            </a:r>
          </a:p>
          <a:p>
            <a:pPr algn="ctr"/>
            <a:r>
              <a:rPr lang="fr-FR" sz="1400" b="1" dirty="0">
                <a:solidFill>
                  <a:schemeClr val="bg1"/>
                </a:solidFill>
              </a:rPr>
              <a:t>Encadrante :</a:t>
            </a:r>
            <a:endParaRPr lang="fr-FR" sz="1400" dirty="0">
              <a:solidFill>
                <a:schemeClr val="bg1"/>
              </a:solidFill>
            </a:endParaRPr>
          </a:p>
          <a:p>
            <a:pPr algn="ctr"/>
            <a:r>
              <a:rPr lang="fr-FR" sz="1400" dirty="0">
                <a:solidFill>
                  <a:schemeClr val="bg1"/>
                </a:solidFill>
              </a:rPr>
              <a:t>Asmae </a:t>
            </a:r>
            <a:r>
              <a:rPr lang="fr-FR" sz="1400" dirty="0" err="1">
                <a:solidFill>
                  <a:schemeClr val="bg1"/>
                </a:solidFill>
              </a:rPr>
              <a:t>Youala</a:t>
            </a:r>
            <a:r>
              <a:rPr lang="fr-FR" sz="1400" dirty="0">
                <a:solidFill>
                  <a:schemeClr val="bg1"/>
                </a:solidFill>
              </a:rPr>
              <a:t> </a:t>
            </a:r>
          </a:p>
          <a:p>
            <a:r>
              <a:rPr lang="fr-FR" sz="1400" b="1" dirty="0">
                <a:solidFill>
                  <a:schemeClr val="bg1"/>
                </a:solidFill>
              </a:rPr>
              <a:t>Établissement :</a:t>
            </a:r>
          </a:p>
          <a:p>
            <a:r>
              <a:rPr lang="fr-FR" sz="1400" dirty="0">
                <a:solidFill>
                  <a:schemeClr val="bg1"/>
                </a:solidFill>
              </a:rPr>
              <a:t>Institut Spécialisé de Technologie Appliquée </a:t>
            </a:r>
            <a:r>
              <a:rPr lang="fr-FR" sz="1400" dirty="0" err="1">
                <a:solidFill>
                  <a:schemeClr val="bg1"/>
                </a:solidFill>
              </a:rPr>
              <a:t>Adarissa</a:t>
            </a:r>
            <a:r>
              <a:rPr lang="fr-FR" sz="1400" dirty="0">
                <a:solidFill>
                  <a:schemeClr val="bg1"/>
                </a:solidFill>
              </a:rPr>
              <a:t> (ISTA </a:t>
            </a:r>
            <a:r>
              <a:rPr lang="fr-FR" sz="1400" dirty="0" err="1">
                <a:solidFill>
                  <a:schemeClr val="bg1"/>
                </a:solidFill>
              </a:rPr>
              <a:t>Adarissa</a:t>
            </a:r>
            <a:r>
              <a:rPr lang="fr-FR" sz="1400" dirty="0">
                <a:solidFill>
                  <a:schemeClr val="bg1"/>
                </a:solidFill>
              </a:rPr>
              <a:t>) </a:t>
            </a:r>
          </a:p>
          <a:p>
            <a:r>
              <a:rPr lang="fr-FR" sz="1400" b="1" dirty="0">
                <a:solidFill>
                  <a:schemeClr val="bg1"/>
                </a:solidFill>
              </a:rPr>
              <a:t>Année de formation :</a:t>
            </a:r>
          </a:p>
          <a:p>
            <a:r>
              <a:rPr lang="fr-FR" sz="1400" dirty="0">
                <a:solidFill>
                  <a:schemeClr val="bg1"/>
                </a:solidFill>
              </a:rPr>
              <a:t>2025 – 2026</a:t>
            </a:r>
          </a:p>
          <a:p>
            <a:pPr algn="ctr" rtl="0"/>
            <a:endParaRPr lang="fr-FR" sz="1400" dirty="0">
              <a:solidFill>
                <a:schemeClr val="bg1"/>
              </a:solidFill>
            </a:endParaRPr>
          </a:p>
        </p:txBody>
      </p:sp>
      <p:sp>
        <p:nvSpPr>
          <p:cNvPr id="4" name="Rectangle 3">
            <a:extLst>
              <a:ext uri="{FF2B5EF4-FFF2-40B4-BE49-F238E27FC236}">
                <a16:creationId xmlns:a16="http://schemas.microsoft.com/office/drawing/2014/main" xmlns="" id="{9D04166F-860D-6590-C539-0655F1F59343}"/>
              </a:ext>
            </a:extLst>
          </p:cNvPr>
          <p:cNvSpPr/>
          <p:nvPr/>
        </p:nvSpPr>
        <p:spPr>
          <a:xfrm>
            <a:off x="446535" y="1005829"/>
            <a:ext cx="11262864" cy="22582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b="1" dirty="0"/>
              <a:t>Système de Réservation des Ateliers et Génération de Rapports Parents</a:t>
            </a:r>
          </a:p>
        </p:txBody>
      </p:sp>
    </p:spTree>
    <p:extLst>
      <p:ext uri="{BB962C8B-B14F-4D97-AF65-F5344CB8AC3E}">
        <p14:creationId xmlns:p14="http://schemas.microsoft.com/office/powerpoint/2010/main" val="148770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80">
                                          <p:stCondLst>
                                            <p:cond delay="0"/>
                                          </p:stCondLst>
                                        </p:cTn>
                                        <p:tgtEl>
                                          <p:spTgt spid="4">
                                            <p:txEl>
                                              <p:pRg st="0" end="0"/>
                                            </p:txEl>
                                          </p:spTgt>
                                        </p:tgtEl>
                                      </p:cBhvr>
                                    </p:animEffect>
                                    <p:anim calcmode="lin" valueType="num">
                                      <p:cBhvr>
                                        <p:cTn id="8"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0" end="0"/>
                                            </p:txEl>
                                          </p:spTgt>
                                        </p:tgtEl>
                                      </p:cBhvr>
                                      <p:to x="100000" y="60000"/>
                                    </p:animScale>
                                    <p:animScale>
                                      <p:cBhvr>
                                        <p:cTn id="14" dur="166" decel="50000">
                                          <p:stCondLst>
                                            <p:cond delay="676"/>
                                          </p:stCondLst>
                                        </p:cTn>
                                        <p:tgtEl>
                                          <p:spTgt spid="4">
                                            <p:txEl>
                                              <p:pRg st="0" end="0"/>
                                            </p:txEl>
                                          </p:spTgt>
                                        </p:tgtEl>
                                      </p:cBhvr>
                                      <p:to x="100000" y="100000"/>
                                    </p:animScale>
                                    <p:animScale>
                                      <p:cBhvr>
                                        <p:cTn id="15" dur="26">
                                          <p:stCondLst>
                                            <p:cond delay="1312"/>
                                          </p:stCondLst>
                                        </p:cTn>
                                        <p:tgtEl>
                                          <p:spTgt spid="4">
                                            <p:txEl>
                                              <p:pRg st="0" end="0"/>
                                            </p:txEl>
                                          </p:spTgt>
                                        </p:tgtEl>
                                      </p:cBhvr>
                                      <p:to x="100000" y="80000"/>
                                    </p:animScale>
                                    <p:animScale>
                                      <p:cBhvr>
                                        <p:cTn id="16" dur="166" decel="50000">
                                          <p:stCondLst>
                                            <p:cond delay="1338"/>
                                          </p:stCondLst>
                                        </p:cTn>
                                        <p:tgtEl>
                                          <p:spTgt spid="4">
                                            <p:txEl>
                                              <p:pRg st="0" end="0"/>
                                            </p:txEl>
                                          </p:spTgt>
                                        </p:tgtEl>
                                      </p:cBhvr>
                                      <p:to x="100000" y="100000"/>
                                    </p:animScale>
                                    <p:animScale>
                                      <p:cBhvr>
                                        <p:cTn id="17" dur="26">
                                          <p:stCondLst>
                                            <p:cond delay="1642"/>
                                          </p:stCondLst>
                                        </p:cTn>
                                        <p:tgtEl>
                                          <p:spTgt spid="4">
                                            <p:txEl>
                                              <p:pRg st="0" end="0"/>
                                            </p:txEl>
                                          </p:spTgt>
                                        </p:tgtEl>
                                      </p:cBhvr>
                                      <p:to x="100000" y="90000"/>
                                    </p:animScale>
                                    <p:animScale>
                                      <p:cBhvr>
                                        <p:cTn id="18" dur="166" decel="50000">
                                          <p:stCondLst>
                                            <p:cond delay="1668"/>
                                          </p:stCondLst>
                                        </p:cTn>
                                        <p:tgtEl>
                                          <p:spTgt spid="4">
                                            <p:txEl>
                                              <p:pRg st="0" end="0"/>
                                            </p:txEl>
                                          </p:spTgt>
                                        </p:tgtEl>
                                      </p:cBhvr>
                                      <p:to x="100000" y="100000"/>
                                    </p:animScale>
                                    <p:animScale>
                                      <p:cBhvr>
                                        <p:cTn id="19" dur="26">
                                          <p:stCondLst>
                                            <p:cond delay="1808"/>
                                          </p:stCondLst>
                                        </p:cTn>
                                        <p:tgtEl>
                                          <p:spTgt spid="4">
                                            <p:txEl>
                                              <p:pRg st="0" end="0"/>
                                            </p:txEl>
                                          </p:spTgt>
                                        </p:tgtEl>
                                      </p:cBhvr>
                                      <p:to x="100000" y="95000"/>
                                    </p:animScale>
                                    <p:animScale>
                                      <p:cBhvr>
                                        <p:cTn id="20" dur="166" decel="50000">
                                          <p:stCondLst>
                                            <p:cond delay="1834"/>
                                          </p:stCondLst>
                                        </p:cTn>
                                        <p:tgtEl>
                                          <p:spTgt spid="4">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p:cTn id="2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3">
                                            <p:txEl>
                                              <p:pRg st="0" end="0"/>
                                            </p:txEl>
                                          </p:spTgt>
                                        </p:tgtEl>
                                      </p:cBhvr>
                                    </p:animEffect>
                                  </p:childTnLst>
                                </p:cTn>
                              </p:par>
                              <p:par>
                                <p:cTn id="29" presetID="31" presetClass="entr" presetSubtype="0" fill="hold" nodeType="with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1" end="1"/>
                                            </p:txEl>
                                          </p:spTgt>
                                        </p:tgtEl>
                                      </p:cBhvr>
                                    </p:animEffect>
                                  </p:childTnLst>
                                </p:cTn>
                              </p:par>
                              <p:par>
                                <p:cTn id="35" presetID="31" presetClass="entr" presetSubtype="0" fill="hold" nodeType="with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p:cTn id="3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0" dur="1000"/>
                                        <p:tgtEl>
                                          <p:spTgt spid="3">
                                            <p:txEl>
                                              <p:pRg st="2" end="2"/>
                                            </p:txEl>
                                          </p:spTgt>
                                        </p:tgtEl>
                                      </p:cBhvr>
                                    </p:animEffect>
                                  </p:childTnLst>
                                </p:cTn>
                              </p:par>
                              <p:par>
                                <p:cTn id="41" presetID="31" presetClass="entr" presetSubtype="0" fill="hold"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p:cTn id="43"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4"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45"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46" dur="1000"/>
                                        <p:tgtEl>
                                          <p:spTgt spid="3">
                                            <p:txEl>
                                              <p:pRg st="3" end="3"/>
                                            </p:txEl>
                                          </p:spTgt>
                                        </p:tgtEl>
                                      </p:cBhvr>
                                    </p:animEffect>
                                  </p:childTnLst>
                                </p:cTn>
                              </p:par>
                              <p:par>
                                <p:cTn id="47" presetID="31" presetClass="entr" presetSubtype="0" fill="hold" nodeType="with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 calcmode="lin" valueType="num">
                                      <p:cBhvr>
                                        <p:cTn id="49"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50"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51"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2" dur="1000"/>
                                        <p:tgtEl>
                                          <p:spTgt spid="3">
                                            <p:txEl>
                                              <p:pRg st="4" end="4"/>
                                            </p:txEl>
                                          </p:spTgt>
                                        </p:tgtEl>
                                      </p:cBhvr>
                                    </p:animEffect>
                                  </p:childTnLst>
                                </p:cTn>
                              </p:par>
                              <p:par>
                                <p:cTn id="53" presetID="31" presetClass="entr" presetSubtype="0" fill="hold" nodeType="with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 calcmode="lin" valueType="num">
                                      <p:cBhvr>
                                        <p:cTn id="55"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6"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57"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58" dur="1000"/>
                                        <p:tgtEl>
                                          <p:spTgt spid="3">
                                            <p:txEl>
                                              <p:pRg st="5" end="5"/>
                                            </p:txEl>
                                          </p:spTgt>
                                        </p:tgtEl>
                                      </p:cBhvr>
                                    </p:animEffect>
                                  </p:childTnLst>
                                </p:cTn>
                              </p:par>
                              <p:par>
                                <p:cTn id="59" presetID="31" presetClass="entr" presetSubtype="0" fill="hold" nodeType="with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anim calcmode="lin" valueType="num">
                                      <p:cBhvr>
                                        <p:cTn id="61"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62"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63"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64" dur="1000"/>
                                        <p:tgtEl>
                                          <p:spTgt spid="3">
                                            <p:txEl>
                                              <p:pRg st="6" end="6"/>
                                            </p:txEl>
                                          </p:spTgt>
                                        </p:tgtEl>
                                      </p:cBhvr>
                                    </p:animEffect>
                                  </p:childTnLst>
                                </p:cTn>
                              </p:par>
                              <p:par>
                                <p:cTn id="65" presetID="31" presetClass="entr" presetSubtype="0" fill="hold" nodeType="withEffect">
                                  <p:stCondLst>
                                    <p:cond delay="0"/>
                                  </p:stCondLst>
                                  <p:childTnLst>
                                    <p:set>
                                      <p:cBhvr>
                                        <p:cTn id="66" dur="1" fill="hold">
                                          <p:stCondLst>
                                            <p:cond delay="0"/>
                                          </p:stCondLst>
                                        </p:cTn>
                                        <p:tgtEl>
                                          <p:spTgt spid="3">
                                            <p:txEl>
                                              <p:pRg st="7" end="7"/>
                                            </p:txEl>
                                          </p:spTgt>
                                        </p:tgtEl>
                                        <p:attrNameLst>
                                          <p:attrName>style.visibility</p:attrName>
                                        </p:attrNameLst>
                                      </p:cBhvr>
                                      <p:to>
                                        <p:strVal val="visible"/>
                                      </p:to>
                                    </p:set>
                                    <p:anim calcmode="lin" valueType="num">
                                      <p:cBhvr>
                                        <p:cTn id="67"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68"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69" dur="1000" fill="hold"/>
                                        <p:tgtEl>
                                          <p:spTgt spid="3">
                                            <p:txEl>
                                              <p:pRg st="7" end="7"/>
                                            </p:txEl>
                                          </p:spTgt>
                                        </p:tgtEl>
                                        <p:attrNameLst>
                                          <p:attrName>style.rotation</p:attrName>
                                        </p:attrNameLst>
                                      </p:cBhvr>
                                      <p:tavLst>
                                        <p:tav tm="0">
                                          <p:val>
                                            <p:fltVal val="90"/>
                                          </p:val>
                                        </p:tav>
                                        <p:tav tm="100000">
                                          <p:val>
                                            <p:fltVal val="0"/>
                                          </p:val>
                                        </p:tav>
                                      </p:tavLst>
                                    </p:anim>
                                    <p:animEffect transition="in" filter="fade">
                                      <p:cBhvr>
                                        <p:cTn id="70" dur="1000"/>
                                        <p:tgtEl>
                                          <p:spTgt spid="3">
                                            <p:txEl>
                                              <p:pRg st="7" end="7"/>
                                            </p:txEl>
                                          </p:spTgt>
                                        </p:tgtEl>
                                      </p:cBhvr>
                                    </p:animEffect>
                                  </p:childTnLst>
                                </p:cTn>
                              </p:par>
                              <p:par>
                                <p:cTn id="71" presetID="31" presetClass="entr" presetSubtype="0" fill="hold" nodeType="withEffect">
                                  <p:stCondLst>
                                    <p:cond delay="0"/>
                                  </p:stCondLst>
                                  <p:childTnLst>
                                    <p:set>
                                      <p:cBhvr>
                                        <p:cTn id="72" dur="1" fill="hold">
                                          <p:stCondLst>
                                            <p:cond delay="0"/>
                                          </p:stCondLst>
                                        </p:cTn>
                                        <p:tgtEl>
                                          <p:spTgt spid="3">
                                            <p:txEl>
                                              <p:pRg st="8" end="8"/>
                                            </p:txEl>
                                          </p:spTgt>
                                        </p:tgtEl>
                                        <p:attrNameLst>
                                          <p:attrName>style.visibility</p:attrName>
                                        </p:attrNameLst>
                                      </p:cBhvr>
                                      <p:to>
                                        <p:strVal val="visible"/>
                                      </p:to>
                                    </p:set>
                                    <p:anim calcmode="lin" valueType="num">
                                      <p:cBhvr>
                                        <p:cTn id="73"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74"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75" dur="10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76"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95A999-CB06-DCB3-8CC8-4D6D4FF4303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4252215B-BC51-BFD5-4153-47AEE716D34B}"/>
              </a:ext>
            </a:extLst>
          </p:cNvPr>
          <p:cNvSpPr>
            <a:spLocks noGrp="1"/>
          </p:cNvSpPr>
          <p:nvPr>
            <p:ph type="title"/>
          </p:nvPr>
        </p:nvSpPr>
        <p:spPr>
          <a:xfrm>
            <a:off x="581024" y="767042"/>
            <a:ext cx="11029783" cy="717419"/>
          </a:xfrm>
        </p:spPr>
        <p:txBody>
          <a:bodyPr>
            <a:normAutofit/>
          </a:bodyPr>
          <a:lstStyle/>
          <a:p>
            <a:pPr algn="ctr"/>
            <a:r>
              <a:rPr lang="fr-FR" sz="3200" b="1" dirty="0"/>
              <a:t>SOMMAIRE</a:t>
            </a:r>
          </a:p>
        </p:txBody>
      </p:sp>
      <p:sp>
        <p:nvSpPr>
          <p:cNvPr id="10" name="Rectangle 1">
            <a:extLst>
              <a:ext uri="{FF2B5EF4-FFF2-40B4-BE49-F238E27FC236}">
                <a16:creationId xmlns:a16="http://schemas.microsoft.com/office/drawing/2014/main" xmlns="" id="{7C565607-2361-9BA3-36DF-2B76A0D76B6C}"/>
              </a:ext>
            </a:extLst>
          </p:cNvPr>
          <p:cNvSpPr>
            <a:spLocks noGrp="1" noChangeArrowheads="1"/>
          </p:cNvSpPr>
          <p:nvPr>
            <p:ph idx="1"/>
          </p:nvPr>
        </p:nvSpPr>
        <p:spPr bwMode="auto">
          <a:xfrm>
            <a:off x="720089" y="1971450"/>
            <a:ext cx="10229562"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endPar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Introduction et objectifs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Problématique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Fonctionnalités principales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Conception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Choix techniques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Démonstration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Difficultés rencontrées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Bilan et perspectives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fr-FR" altLang="fr-FR" sz="20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Conclusion </a:t>
            </a:r>
          </a:p>
        </p:txBody>
      </p:sp>
    </p:spTree>
    <p:extLst>
      <p:ext uri="{BB962C8B-B14F-4D97-AF65-F5344CB8AC3E}">
        <p14:creationId xmlns:p14="http://schemas.microsoft.com/office/powerpoint/2010/main" val="2720457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52A51A27-B2A7-5BDE-36C5-1ED87A125EC2}"/>
              </a:ext>
            </a:extLst>
          </p:cNvPr>
          <p:cNvSpPr>
            <a:spLocks noGrp="1"/>
          </p:cNvSpPr>
          <p:nvPr>
            <p:ph type="title"/>
          </p:nvPr>
        </p:nvSpPr>
        <p:spPr>
          <a:xfrm>
            <a:off x="581024" y="767042"/>
            <a:ext cx="11029783" cy="717419"/>
          </a:xfrm>
        </p:spPr>
        <p:txBody>
          <a:bodyPr>
            <a:normAutofit/>
          </a:bodyPr>
          <a:lstStyle/>
          <a:p>
            <a:pPr algn="ctr"/>
            <a:r>
              <a:rPr lang="en-US" sz="3200" b="1" dirty="0" err="1"/>
              <a:t>i</a:t>
            </a:r>
            <a:r>
              <a:rPr lang="fr-FR" sz="3200" b="1" dirty="0" err="1"/>
              <a:t>ntroduction</a:t>
            </a:r>
            <a:endParaRPr lang="fr-FR" sz="3200" b="1" dirty="0"/>
          </a:p>
        </p:txBody>
      </p:sp>
      <p:sp>
        <p:nvSpPr>
          <p:cNvPr id="10" name="Rectangle 1">
            <a:extLst>
              <a:ext uri="{FF2B5EF4-FFF2-40B4-BE49-F238E27FC236}">
                <a16:creationId xmlns:a16="http://schemas.microsoft.com/office/drawing/2014/main" xmlns="" id="{FF09D305-ECF0-EF5A-3FB2-F5D56CAFEE2F}"/>
              </a:ext>
            </a:extLst>
          </p:cNvPr>
          <p:cNvSpPr>
            <a:spLocks noGrp="1" noChangeArrowheads="1"/>
          </p:cNvSpPr>
          <p:nvPr>
            <p:ph idx="1"/>
          </p:nvPr>
        </p:nvSpPr>
        <p:spPr bwMode="auto">
          <a:xfrm>
            <a:off x="720089" y="2173781"/>
            <a:ext cx="1022956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50000"/>
              </a:lnSpc>
              <a:spcBef>
                <a:spcPct val="0"/>
              </a:spcBef>
              <a:spcAft>
                <a:spcPct val="0"/>
              </a:spcAft>
              <a:buClrTx/>
              <a:buSzTx/>
              <a:buNone/>
            </a:pPr>
            <a:r>
              <a:rPr lang="fr-FR" altLang="fr-FR" sz="2000" dirty="0">
                <a:solidFill>
                  <a:schemeClr val="tx1"/>
                </a:solidFill>
                <a:latin typeface="Arial" panose="020B0604020202020204" pitchFamily="34" charset="0"/>
              </a:rPr>
              <a:t>Présentation générale du </a:t>
            </a:r>
            <a:r>
              <a:rPr lang="fr-FR" altLang="fr-FR" sz="2000" dirty="0" smtClean="0">
                <a:solidFill>
                  <a:schemeClr val="tx1"/>
                </a:solidFill>
                <a:latin typeface="Arial" panose="020B0604020202020204" pitchFamily="34" charset="0"/>
              </a:rPr>
              <a:t>projet Dans </a:t>
            </a:r>
            <a:r>
              <a:rPr lang="fr-FR" altLang="fr-FR" sz="2000" dirty="0">
                <a:solidFill>
                  <a:schemeClr val="tx1"/>
                </a:solidFill>
                <a:latin typeface="Arial" panose="020B0604020202020204" pitchFamily="34" charset="0"/>
              </a:rPr>
              <a:t>le cadre de notre projet de formation, nous avons développé une application web destinée à Elite </a:t>
            </a:r>
            <a:r>
              <a:rPr lang="fr-FR" altLang="fr-FR" sz="2000" dirty="0" err="1">
                <a:solidFill>
                  <a:schemeClr val="tx1"/>
                </a:solidFill>
                <a:latin typeface="Arial" panose="020B0604020202020204" pitchFamily="34" charset="0"/>
              </a:rPr>
              <a:t>Coders</a:t>
            </a:r>
            <a:r>
              <a:rPr lang="fr-FR" altLang="fr-FR" sz="2000" dirty="0">
                <a:solidFill>
                  <a:schemeClr val="tx1"/>
                </a:solidFill>
                <a:latin typeface="Arial" panose="020B0604020202020204" pitchFamily="34" charset="0"/>
              </a:rPr>
              <a:t> </a:t>
            </a:r>
            <a:r>
              <a:rPr lang="fr-FR" altLang="fr-FR" sz="2000" dirty="0" err="1">
                <a:solidFill>
                  <a:schemeClr val="tx1"/>
                </a:solidFill>
                <a:latin typeface="Arial" panose="020B0604020202020204" pitchFamily="34" charset="0"/>
              </a:rPr>
              <a:t>Academy</a:t>
            </a:r>
            <a:r>
              <a:rPr lang="fr-FR" altLang="fr-FR" sz="2000" dirty="0">
                <a:solidFill>
                  <a:schemeClr val="tx1"/>
                </a:solidFill>
                <a:latin typeface="Arial" panose="020B0604020202020204" pitchFamily="34" charset="0"/>
              </a:rPr>
              <a:t> afin de faciliter la gestion des ateliers et le suivi pédagogique des </a:t>
            </a:r>
            <a:r>
              <a:rPr lang="fr-FR" altLang="fr-FR" sz="2000" dirty="0" err="1">
                <a:solidFill>
                  <a:schemeClr val="tx1"/>
                </a:solidFill>
                <a:latin typeface="Arial" panose="020B0604020202020204" pitchFamily="34" charset="0"/>
              </a:rPr>
              <a:t>élèves.L’idée</a:t>
            </a:r>
            <a:r>
              <a:rPr lang="fr-FR" altLang="fr-FR" sz="2000" dirty="0">
                <a:solidFill>
                  <a:schemeClr val="tx1"/>
                </a:solidFill>
                <a:latin typeface="Arial" panose="020B0604020202020204" pitchFamily="34" charset="0"/>
              </a:rPr>
              <a:t> initiale a été proposée par l’académie, mais nous avons étudié plusieurs solutions avant de concevoir une plateforme centralisée répondant aux besoins réels de l’administration, des formateurs et des parents</a:t>
            </a:r>
            <a:r>
              <a:rPr lang="fr-FR" altLang="fr-FR" sz="2000" dirty="0" smtClean="0">
                <a:solidFill>
                  <a:schemeClr val="tx1"/>
                </a:solidFill>
                <a:latin typeface="Arial" panose="020B0604020202020204" pitchFamily="34" charset="0"/>
              </a:rPr>
              <a:t>. L’application </a:t>
            </a:r>
            <a:r>
              <a:rPr lang="fr-FR" altLang="fr-FR" sz="2000" dirty="0">
                <a:solidFill>
                  <a:schemeClr val="tx1"/>
                </a:solidFill>
                <a:latin typeface="Arial" panose="020B0604020202020204" pitchFamily="34" charset="0"/>
              </a:rPr>
              <a:t>permet aux parents de réserver des ateliers en ligne, aux administrateurs de gérer les demandes de réservation et aux formateurs de générer des rapports pédagogiques au format PDF qui peuvent être envoyés automatiquement aux parents par courrier électronique.</a:t>
            </a:r>
            <a:endParaRPr kumimoji="0" lang="fr-FR" altLang="fr-FR" sz="2000" i="0" u="none" strike="noStrike" cap="none" normalizeH="0" baseline="0" dirty="0">
              <a:ln>
                <a:noFill/>
              </a:ln>
              <a:solidFill>
                <a:schemeClr val="tx1"/>
              </a:solidFill>
              <a:latin typeface="Arial" panose="020B0604020202020204" pitchFamily="34" charset="0"/>
            </a:endParaRPr>
          </a:p>
        </p:txBody>
      </p:sp>
    </p:spTree>
    <p:extLst>
      <p:ext uri="{BB962C8B-B14F-4D97-AF65-F5344CB8AC3E}">
        <p14:creationId xmlns:p14="http://schemas.microsoft.com/office/powerpoint/2010/main" val="170334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B37A1F-696A-8256-D05C-DD28775F9AD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E3CCABE1-6BC7-DB7C-676B-F59209FA3D69}"/>
              </a:ext>
            </a:extLst>
          </p:cNvPr>
          <p:cNvSpPr>
            <a:spLocks noGrp="1"/>
          </p:cNvSpPr>
          <p:nvPr>
            <p:ph type="title"/>
          </p:nvPr>
        </p:nvSpPr>
        <p:spPr>
          <a:xfrm>
            <a:off x="581024" y="767042"/>
            <a:ext cx="11029783" cy="717419"/>
          </a:xfrm>
        </p:spPr>
        <p:txBody>
          <a:bodyPr>
            <a:normAutofit/>
          </a:bodyPr>
          <a:lstStyle/>
          <a:p>
            <a:pPr algn="ctr"/>
            <a:r>
              <a:rPr lang="en-US" sz="3200" b="1" dirty="0" err="1"/>
              <a:t>i</a:t>
            </a:r>
            <a:r>
              <a:rPr lang="fr-FR" sz="3200" b="1" dirty="0" err="1"/>
              <a:t>ntroduction</a:t>
            </a:r>
            <a:endParaRPr lang="fr-FR" sz="3200" b="1" dirty="0"/>
          </a:p>
        </p:txBody>
      </p:sp>
      <p:sp>
        <p:nvSpPr>
          <p:cNvPr id="10" name="Rectangle 1">
            <a:extLst>
              <a:ext uri="{FF2B5EF4-FFF2-40B4-BE49-F238E27FC236}">
                <a16:creationId xmlns:a16="http://schemas.microsoft.com/office/drawing/2014/main" xmlns="" id="{24649D2E-EE0F-9ABC-0825-0C20987729E3}"/>
              </a:ext>
            </a:extLst>
          </p:cNvPr>
          <p:cNvSpPr>
            <a:spLocks noGrp="1" noChangeArrowheads="1"/>
          </p:cNvSpPr>
          <p:nvPr>
            <p:ph idx="1"/>
          </p:nvPr>
        </p:nvSpPr>
        <p:spPr bwMode="auto">
          <a:xfrm>
            <a:off x="720089" y="1740618"/>
            <a:ext cx="10229562" cy="5113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ClrTx/>
              <a:buSzTx/>
              <a:buFont typeface="Wingdings" panose="05000000000000000000" pitchFamily="2" charset="2"/>
              <a:buChar char="q"/>
            </a:pPr>
            <a:r>
              <a:rPr lang="fr-FR" altLang="fr-FR" sz="2000" b="1" dirty="0">
                <a:solidFill>
                  <a:schemeClr val="tx1"/>
                </a:solidFill>
                <a:latin typeface="Arial" panose="020B0604020202020204" pitchFamily="34" charset="0"/>
              </a:rPr>
              <a:t>Pourquoi ce projet ?</a:t>
            </a:r>
          </a:p>
          <a:p>
            <a:pPr marL="0" lvl="0" indent="0" defTabSz="914400" eaLnBrk="0" fontAlgn="base" hangingPunct="0">
              <a:lnSpc>
                <a:spcPct val="150000"/>
              </a:lnSpc>
              <a:spcBef>
                <a:spcPct val="0"/>
              </a:spcBef>
              <a:spcAft>
                <a:spcPct val="0"/>
              </a:spcAft>
              <a:buClrTx/>
              <a:buSzTx/>
              <a:buNone/>
            </a:pPr>
            <a:r>
              <a:rPr lang="fr-FR" altLang="fr-FR" sz="2000" dirty="0">
                <a:solidFill>
                  <a:schemeClr val="tx1"/>
                </a:solidFill>
                <a:latin typeface="Arial" panose="020B0604020202020204" pitchFamily="34" charset="0"/>
              </a:rPr>
              <a:t>Avant la mise en place de cette solution, les inscriptions aux ateliers étaient principalement gérées via WhatsApp et sur papier. Les rapports pédagogiques étaient rédigés manuellement, ce qui pouvait entraîner une perte d’informations, un manque de centralisation et un temps de traitement </a:t>
            </a:r>
            <a:r>
              <a:rPr lang="fr-FR" altLang="fr-FR" sz="2000" dirty="0" err="1">
                <a:solidFill>
                  <a:schemeClr val="tx1"/>
                </a:solidFill>
                <a:latin typeface="Arial" panose="020B0604020202020204" pitchFamily="34" charset="0"/>
              </a:rPr>
              <a:t>important.Ce</a:t>
            </a:r>
            <a:r>
              <a:rPr lang="fr-FR" altLang="fr-FR" sz="2000" dirty="0">
                <a:solidFill>
                  <a:schemeClr val="tx1"/>
                </a:solidFill>
                <a:latin typeface="Arial" panose="020B0604020202020204" pitchFamily="34" charset="0"/>
              </a:rPr>
              <a:t> projet a été réalisé afin de moderniser ces processus en proposant une plateforme unique permettant de centraliser les données administratives et pédagogiques, d'améliorer la communication avec les parents et de simplifier le suivi des </a:t>
            </a:r>
            <a:r>
              <a:rPr lang="fr-FR" altLang="fr-FR" sz="2000" dirty="0" err="1">
                <a:solidFill>
                  <a:schemeClr val="tx1"/>
                </a:solidFill>
                <a:latin typeface="Arial" panose="020B0604020202020204" pitchFamily="34" charset="0"/>
              </a:rPr>
              <a:t>élèves.La</a:t>
            </a:r>
            <a:r>
              <a:rPr lang="fr-FR" altLang="fr-FR" sz="2000" dirty="0">
                <a:solidFill>
                  <a:schemeClr val="tx1"/>
                </a:solidFill>
                <a:latin typeface="Arial" panose="020B0604020202020204" pitchFamily="34" charset="0"/>
              </a:rPr>
              <a:t> réservation en ligne ainsi que l’automatisation de l’envoi des rapports PDF représentent les fonctionnalités les plus importantes du système, car elles permettent un gain de temps considérable pour les utilisateurs.</a:t>
            </a:r>
            <a:endParaRPr kumimoji="0" lang="fr-FR" altLang="fr-FR" sz="2000" i="0" u="none" strike="noStrike" cap="none" normalizeH="0" baseline="0" dirty="0">
              <a:ln>
                <a:noFill/>
              </a:ln>
              <a:solidFill>
                <a:schemeClr val="tx1"/>
              </a:solidFill>
              <a:latin typeface="Arial" panose="020B0604020202020204" pitchFamily="34" charset="0"/>
            </a:endParaRPr>
          </a:p>
        </p:txBody>
      </p:sp>
    </p:spTree>
    <p:extLst>
      <p:ext uri="{BB962C8B-B14F-4D97-AF65-F5344CB8AC3E}">
        <p14:creationId xmlns:p14="http://schemas.microsoft.com/office/powerpoint/2010/main" val="3314248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18637E-E576-4ACF-CF8E-9D3517F65D8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xmlns="" id="{AA2CB497-EC76-1CCF-B99E-9C99814C4060}"/>
              </a:ext>
            </a:extLst>
          </p:cNvPr>
          <p:cNvSpPr>
            <a:spLocks noGrp="1"/>
          </p:cNvSpPr>
          <p:nvPr>
            <p:ph type="title"/>
          </p:nvPr>
        </p:nvSpPr>
        <p:spPr>
          <a:xfrm>
            <a:off x="581024" y="767042"/>
            <a:ext cx="11029783" cy="717419"/>
          </a:xfrm>
        </p:spPr>
        <p:txBody>
          <a:bodyPr>
            <a:normAutofit/>
          </a:bodyPr>
          <a:lstStyle/>
          <a:p>
            <a:pPr algn="ctr"/>
            <a:r>
              <a:rPr lang="en-US" sz="3200" b="1" dirty="0" err="1"/>
              <a:t>i</a:t>
            </a:r>
            <a:r>
              <a:rPr lang="fr-FR" sz="3200" b="1" dirty="0" err="1"/>
              <a:t>ntroduction</a:t>
            </a:r>
            <a:endParaRPr lang="fr-FR" sz="3200" b="1" dirty="0"/>
          </a:p>
        </p:txBody>
      </p:sp>
      <p:sp>
        <p:nvSpPr>
          <p:cNvPr id="10" name="Rectangle 1">
            <a:extLst>
              <a:ext uri="{FF2B5EF4-FFF2-40B4-BE49-F238E27FC236}">
                <a16:creationId xmlns:a16="http://schemas.microsoft.com/office/drawing/2014/main" xmlns="" id="{1A067DD9-43C1-C23F-A86E-3D13FDA0B9E7}"/>
              </a:ext>
            </a:extLst>
          </p:cNvPr>
          <p:cNvSpPr>
            <a:spLocks noGrp="1" noChangeArrowheads="1"/>
          </p:cNvSpPr>
          <p:nvPr>
            <p:ph idx="1"/>
          </p:nvPr>
        </p:nvSpPr>
        <p:spPr bwMode="auto">
          <a:xfrm>
            <a:off x="477636" y="1938893"/>
            <a:ext cx="11236728"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ClrTx/>
              <a:buSzTx/>
              <a:buFont typeface="Wingdings" panose="05000000000000000000" pitchFamily="2" charset="2"/>
              <a:buChar char="q"/>
            </a:pPr>
            <a:r>
              <a:rPr lang="fr-FR" altLang="fr-FR" sz="2000" b="1" dirty="0">
                <a:solidFill>
                  <a:schemeClr val="tx1"/>
                </a:solidFill>
                <a:latin typeface="Arial" panose="020B0604020202020204" pitchFamily="34" charset="0"/>
              </a:rPr>
              <a:t>Objectifs visés</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Centraliser les informations administratives et pédagogiques dans une seule plateforme</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 Permettre aux parents de réserver des ateliers en ligne.</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 Faciliter le suivi des réservations grâce aux différents statuts (En attente, Payé, Annulée).</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Réduire les erreurs liées à la gestion manuelle des inscriptions.</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Simplifier le suivi pédagogique des élèves.- </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Générer automatiquement des rapports PDF professionnels.</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 Envoyer les rapports aux parents par courrier électronique.</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Conserver un historique des rapports générés.-</a:t>
            </a:r>
          </a:p>
          <a:p>
            <a:pPr lvl="0" defTabSz="914400" eaLnBrk="0" fontAlgn="base" hangingPunct="0">
              <a:lnSpc>
                <a:spcPct val="150000"/>
              </a:lnSpc>
              <a:spcBef>
                <a:spcPct val="0"/>
              </a:spcBef>
              <a:spcAft>
                <a:spcPct val="0"/>
              </a:spcAft>
              <a:buClrTx/>
              <a:buSzTx/>
              <a:buFont typeface="Wingdings" panose="05000000000000000000" pitchFamily="2" charset="2"/>
              <a:buChar char="Ø"/>
            </a:pPr>
            <a:r>
              <a:rPr lang="fr-FR" altLang="fr-FR" sz="2000" dirty="0">
                <a:solidFill>
                  <a:schemeClr val="tx1"/>
                </a:solidFill>
                <a:latin typeface="Arial" panose="020B0604020202020204" pitchFamily="34" charset="0"/>
              </a:rPr>
              <a:t> Accélérer les processus administratifs et améliorer l’organisation générale de l’académie.</a:t>
            </a:r>
            <a:endParaRPr kumimoji="0" lang="fr-FR" altLang="fr-FR" sz="2000" i="0" u="none" strike="noStrike" cap="none" normalizeH="0" baseline="0" dirty="0">
              <a:ln>
                <a:noFill/>
              </a:ln>
              <a:solidFill>
                <a:schemeClr val="tx1"/>
              </a:solidFill>
              <a:latin typeface="Arial" panose="020B0604020202020204" pitchFamily="34" charset="0"/>
            </a:endParaRPr>
          </a:p>
        </p:txBody>
      </p:sp>
    </p:spTree>
    <p:extLst>
      <p:ext uri="{BB962C8B-B14F-4D97-AF65-F5344CB8AC3E}">
        <p14:creationId xmlns:p14="http://schemas.microsoft.com/office/powerpoint/2010/main" val="2178363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921633EB-7DCB-4DDC-80AF-C885A3EE1245}"/>
              </a:ext>
            </a:extLst>
          </p:cNvPr>
          <p:cNvSpPr>
            <a:spLocks noGrp="1"/>
          </p:cNvSpPr>
          <p:nvPr>
            <p:ph type="title"/>
          </p:nvPr>
        </p:nvSpPr>
        <p:spPr>
          <a:xfrm>
            <a:off x="581193" y="804396"/>
            <a:ext cx="11016045" cy="716823"/>
          </a:xfrm>
        </p:spPr>
        <p:txBody>
          <a:bodyPr rtlCol="0">
            <a:normAutofit/>
          </a:bodyPr>
          <a:lstStyle/>
          <a:p>
            <a:pPr algn="ctr"/>
            <a:r>
              <a:rPr lang="fr-FR" sz="3200" b="1" dirty="0"/>
              <a:t>Problématique</a:t>
            </a:r>
          </a:p>
        </p:txBody>
      </p:sp>
      <p:sp>
        <p:nvSpPr>
          <p:cNvPr id="7" name="TextBox 6">
            <a:extLst>
              <a:ext uri="{FF2B5EF4-FFF2-40B4-BE49-F238E27FC236}">
                <a16:creationId xmlns:a16="http://schemas.microsoft.com/office/drawing/2014/main" xmlns="" id="{9FBCB925-1367-34CC-CEE0-59FED82CD1C3}"/>
              </a:ext>
            </a:extLst>
          </p:cNvPr>
          <p:cNvSpPr txBox="1"/>
          <p:nvPr/>
        </p:nvSpPr>
        <p:spPr>
          <a:xfrm>
            <a:off x="581193" y="2889604"/>
            <a:ext cx="11155471" cy="2816156"/>
          </a:xfrm>
          <a:prstGeom prst="rect">
            <a:avLst/>
          </a:prstGeom>
          <a:noFill/>
        </p:spPr>
        <p:txBody>
          <a:bodyPr wrap="square" numCol="2" rtlCol="0">
            <a:spAutoFit/>
          </a:bodyPr>
          <a:lstStyle/>
          <a:p>
            <a:pPr marL="342900" indent="-342900">
              <a:lnSpc>
                <a:spcPct val="150000"/>
              </a:lnSpc>
              <a:buFont typeface="Wingdings" panose="05000000000000000000" pitchFamily="2" charset="2"/>
              <a:buChar char="q"/>
            </a:pPr>
            <a:r>
              <a:rPr lang="fr-FR" sz="2800" b="1" dirty="0"/>
              <a:t>Avant le projet</a:t>
            </a:r>
          </a:p>
          <a:p>
            <a:pPr marL="285750" indent="-285750">
              <a:lnSpc>
                <a:spcPct val="150000"/>
              </a:lnSpc>
              <a:buFont typeface="Wingdings" panose="05000000000000000000" pitchFamily="2" charset="2"/>
              <a:buChar char="Ø"/>
            </a:pPr>
            <a:r>
              <a:rPr lang="fr-FR" dirty="0"/>
              <a:t>Gestion manuelle des inscriptions </a:t>
            </a:r>
          </a:p>
          <a:p>
            <a:pPr marL="285750" indent="-285750">
              <a:lnSpc>
                <a:spcPct val="150000"/>
              </a:lnSpc>
              <a:buFont typeface="Wingdings" panose="05000000000000000000" pitchFamily="2" charset="2"/>
              <a:buChar char="Ø"/>
            </a:pPr>
            <a:r>
              <a:rPr lang="fr-FR" dirty="0"/>
              <a:t>Difficulté de suivre les réservations </a:t>
            </a:r>
          </a:p>
          <a:p>
            <a:pPr marL="285750" indent="-285750">
              <a:lnSpc>
                <a:spcPct val="150000"/>
              </a:lnSpc>
              <a:buFont typeface="Wingdings" panose="05000000000000000000" pitchFamily="2" charset="2"/>
              <a:buChar char="Ø"/>
            </a:pPr>
            <a:r>
              <a:rPr lang="fr-FR" dirty="0"/>
              <a:t>Informations dispersées dans plusieurs supports </a:t>
            </a:r>
          </a:p>
          <a:p>
            <a:pPr marL="285750" indent="-285750">
              <a:lnSpc>
                <a:spcPct val="150000"/>
              </a:lnSpc>
              <a:buFont typeface="Wingdings" panose="05000000000000000000" pitchFamily="2" charset="2"/>
              <a:buChar char="Ø"/>
            </a:pPr>
            <a:r>
              <a:rPr lang="fr-FR" dirty="0"/>
              <a:t>Suivi pédagogique peu efficace </a:t>
            </a:r>
          </a:p>
          <a:p>
            <a:pPr marL="285750" indent="-285750">
              <a:lnSpc>
                <a:spcPct val="150000"/>
              </a:lnSpc>
              <a:buFont typeface="Wingdings" panose="05000000000000000000" pitchFamily="2" charset="2"/>
              <a:buChar char="Ø"/>
            </a:pPr>
            <a:r>
              <a:rPr lang="fr-FR" dirty="0"/>
              <a:t>Risque d'erreurs et perte de temps </a:t>
            </a:r>
          </a:p>
          <a:p>
            <a:pPr marL="342900" indent="-342900">
              <a:lnSpc>
                <a:spcPct val="150000"/>
              </a:lnSpc>
              <a:buFont typeface="Wingdings" panose="05000000000000000000" pitchFamily="2" charset="2"/>
              <a:buChar char="q"/>
            </a:pPr>
            <a:r>
              <a:rPr lang="fr-FR" sz="2800" b="1" dirty="0"/>
              <a:t>Solution proposée</a:t>
            </a:r>
          </a:p>
          <a:p>
            <a:pPr marL="285750" indent="-285750">
              <a:lnSpc>
                <a:spcPct val="150000"/>
              </a:lnSpc>
              <a:buFont typeface="Wingdings" panose="05000000000000000000" pitchFamily="2" charset="2"/>
              <a:buChar char="Ø"/>
            </a:pPr>
            <a:r>
              <a:rPr lang="fr-FR" dirty="0"/>
              <a:t>Centralisation des données dans une seule plateforme </a:t>
            </a:r>
          </a:p>
          <a:p>
            <a:pPr marL="285750" indent="-285750">
              <a:lnSpc>
                <a:spcPct val="150000"/>
              </a:lnSpc>
              <a:buFont typeface="Wingdings" panose="05000000000000000000" pitchFamily="2" charset="2"/>
              <a:buChar char="Ø"/>
            </a:pPr>
            <a:r>
              <a:rPr lang="fr-FR" dirty="0"/>
              <a:t>Gestion simplifiée des réservations </a:t>
            </a:r>
          </a:p>
          <a:p>
            <a:pPr marL="285750" indent="-285750">
              <a:lnSpc>
                <a:spcPct val="150000"/>
              </a:lnSpc>
              <a:buFont typeface="Wingdings" panose="05000000000000000000" pitchFamily="2" charset="2"/>
              <a:buChar char="Ø"/>
            </a:pPr>
            <a:r>
              <a:rPr lang="fr-FR" dirty="0"/>
              <a:t>Suivi des enfants et des parents </a:t>
            </a:r>
          </a:p>
          <a:p>
            <a:pPr marL="285750" indent="-285750">
              <a:lnSpc>
                <a:spcPct val="150000"/>
              </a:lnSpc>
              <a:buFont typeface="Wingdings" panose="05000000000000000000" pitchFamily="2" charset="2"/>
              <a:buChar char="Ø"/>
            </a:pPr>
            <a:r>
              <a:rPr lang="fr-FR" dirty="0"/>
              <a:t>Génération automatique des rapports PDF</a:t>
            </a:r>
          </a:p>
          <a:p>
            <a:pPr>
              <a:lnSpc>
                <a:spcPct val="150000"/>
              </a:lnSpc>
            </a:pPr>
            <a:endParaRPr lang="fr-FR" dirty="0"/>
          </a:p>
        </p:txBody>
      </p:sp>
    </p:spTree>
    <p:extLst>
      <p:ext uri="{BB962C8B-B14F-4D97-AF65-F5344CB8AC3E}">
        <p14:creationId xmlns:p14="http://schemas.microsoft.com/office/powerpoint/2010/main" val="49760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4F617F1-D2C3-5394-0452-D94F5AD6119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F0B5D95E-63E7-3950-7662-2C582A27E7E1}"/>
              </a:ext>
            </a:extLst>
          </p:cNvPr>
          <p:cNvSpPr>
            <a:spLocks noGrp="1"/>
          </p:cNvSpPr>
          <p:nvPr>
            <p:ph type="title"/>
          </p:nvPr>
        </p:nvSpPr>
        <p:spPr>
          <a:xfrm>
            <a:off x="581193" y="804396"/>
            <a:ext cx="11016045" cy="716823"/>
          </a:xfrm>
        </p:spPr>
        <p:txBody>
          <a:bodyPr rtlCol="0">
            <a:normAutofit/>
          </a:bodyPr>
          <a:lstStyle/>
          <a:p>
            <a:pPr algn="ctr"/>
            <a:r>
              <a:rPr lang="fr-FR" sz="3200" b="1" dirty="0"/>
              <a:t>FONCTIONNALITÉS PRINCIPALES</a:t>
            </a:r>
          </a:p>
        </p:txBody>
      </p:sp>
      <p:sp>
        <p:nvSpPr>
          <p:cNvPr id="7" name="TextBox 6">
            <a:extLst>
              <a:ext uri="{FF2B5EF4-FFF2-40B4-BE49-F238E27FC236}">
                <a16:creationId xmlns:a16="http://schemas.microsoft.com/office/drawing/2014/main" xmlns="" id="{13010811-F3F6-3F93-7B6A-EECA7897EAD0}"/>
              </a:ext>
            </a:extLst>
          </p:cNvPr>
          <p:cNvSpPr txBox="1"/>
          <p:nvPr/>
        </p:nvSpPr>
        <p:spPr>
          <a:xfrm>
            <a:off x="518264" y="2345593"/>
            <a:ext cx="11155471" cy="4385816"/>
          </a:xfrm>
          <a:prstGeom prst="rect">
            <a:avLst/>
          </a:prstGeom>
          <a:noFill/>
        </p:spPr>
        <p:txBody>
          <a:bodyPr wrap="square" numCol="1" rtlCol="0">
            <a:spAutoFit/>
          </a:bodyPr>
          <a:lstStyle/>
          <a:p>
            <a:pPr marL="342900" indent="-342900">
              <a:lnSpc>
                <a:spcPct val="150000"/>
              </a:lnSpc>
              <a:buAutoNum type="arabicPeriod"/>
            </a:pPr>
            <a:r>
              <a:rPr lang="fr-FR" sz="2400" b="1" dirty="0"/>
              <a:t>Gestion des ateliers</a:t>
            </a:r>
          </a:p>
          <a:p>
            <a:pPr>
              <a:lnSpc>
                <a:spcPct val="150000"/>
              </a:lnSpc>
            </a:pPr>
            <a:r>
              <a:rPr lang="fr-FR" sz="2000" dirty="0" smtClean="0"/>
              <a:t>L’administrateur dispose </a:t>
            </a:r>
            <a:r>
              <a:rPr lang="fr-FR" sz="2000" dirty="0"/>
              <a:t>d’un espace dédié lui permettant de créer, modifier et supprimer des ateliers. Chaque atelier contient plusieurs informations telles que le titre, la description, le prix, la capacité d’accueil, la tranche d’âge concernée, les dates ainsi qu’une image de présentation</a:t>
            </a:r>
            <a:r>
              <a:rPr lang="fr-FR" dirty="0"/>
              <a:t>.</a:t>
            </a:r>
          </a:p>
          <a:p>
            <a:pPr marL="342900" indent="-342900">
              <a:lnSpc>
                <a:spcPct val="150000"/>
              </a:lnSpc>
              <a:buAutoNum type="arabicPeriod"/>
            </a:pPr>
            <a:endParaRPr lang="fr-FR" dirty="0"/>
          </a:p>
          <a:p>
            <a:pPr>
              <a:lnSpc>
                <a:spcPct val="150000"/>
              </a:lnSpc>
            </a:pPr>
            <a:r>
              <a:rPr lang="fr-FR" sz="2400" dirty="0"/>
              <a:t>2. </a:t>
            </a:r>
            <a:r>
              <a:rPr lang="fr-FR" sz="2400" b="1" dirty="0"/>
              <a:t>Réservation en ligne des ateliers</a:t>
            </a:r>
          </a:p>
          <a:p>
            <a:pPr>
              <a:lnSpc>
                <a:spcPct val="150000"/>
              </a:lnSpc>
            </a:pPr>
            <a:r>
              <a:rPr lang="fr-FR" sz="2000" dirty="0"/>
              <a:t>Les parents peuvent créer un compte, accéder à leur espace personnel et consulter les ateliers disponibles. Grâce à la fonctionnalité « Réserver maintenant », ils peuvent effectuer une demande de réservation et suivre son évolution depuis leur tableau de bord</a:t>
            </a:r>
          </a:p>
        </p:txBody>
      </p:sp>
    </p:spTree>
    <p:extLst>
      <p:ext uri="{BB962C8B-B14F-4D97-AF65-F5344CB8AC3E}">
        <p14:creationId xmlns:p14="http://schemas.microsoft.com/office/powerpoint/2010/main" val="2999745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45DB8F-63AB-8F6A-1F24-B53FF8A5563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9B04126C-DAB3-4DE6-8567-4DCBACC2A6A0}"/>
              </a:ext>
            </a:extLst>
          </p:cNvPr>
          <p:cNvSpPr>
            <a:spLocks noGrp="1"/>
          </p:cNvSpPr>
          <p:nvPr>
            <p:ph type="title"/>
          </p:nvPr>
        </p:nvSpPr>
        <p:spPr>
          <a:xfrm>
            <a:off x="581193" y="804396"/>
            <a:ext cx="11016045" cy="716823"/>
          </a:xfrm>
        </p:spPr>
        <p:txBody>
          <a:bodyPr rtlCol="0">
            <a:normAutofit/>
          </a:bodyPr>
          <a:lstStyle/>
          <a:p>
            <a:pPr algn="ctr"/>
            <a:r>
              <a:rPr lang="fr-FR" sz="3200" b="1" dirty="0"/>
              <a:t>FONCTIONNALITÉS PRINCIPALES</a:t>
            </a:r>
          </a:p>
        </p:txBody>
      </p:sp>
      <p:sp>
        <p:nvSpPr>
          <p:cNvPr id="7" name="TextBox 6">
            <a:extLst>
              <a:ext uri="{FF2B5EF4-FFF2-40B4-BE49-F238E27FC236}">
                <a16:creationId xmlns:a16="http://schemas.microsoft.com/office/drawing/2014/main" xmlns="" id="{317BFAED-81F9-3EDC-CE31-69E4BB681CA8}"/>
              </a:ext>
            </a:extLst>
          </p:cNvPr>
          <p:cNvSpPr txBox="1"/>
          <p:nvPr/>
        </p:nvSpPr>
        <p:spPr>
          <a:xfrm>
            <a:off x="518264" y="2345593"/>
            <a:ext cx="11155471" cy="3916072"/>
          </a:xfrm>
          <a:prstGeom prst="rect">
            <a:avLst/>
          </a:prstGeom>
          <a:noFill/>
        </p:spPr>
        <p:txBody>
          <a:bodyPr wrap="square" numCol="1" rtlCol="0">
            <a:spAutoFit/>
          </a:bodyPr>
          <a:lstStyle/>
          <a:p>
            <a:pPr>
              <a:lnSpc>
                <a:spcPct val="150000"/>
              </a:lnSpc>
            </a:pPr>
            <a:r>
              <a:rPr lang="fr-FR" sz="2000" b="1" dirty="0"/>
              <a:t>3.</a:t>
            </a:r>
            <a:r>
              <a:rPr lang="fr-FR" sz="2400" b="1" dirty="0"/>
              <a:t> Gestion des réservations et des statuts</a:t>
            </a:r>
          </a:p>
          <a:p>
            <a:pPr>
              <a:lnSpc>
                <a:spcPct val="150000"/>
              </a:lnSpc>
            </a:pPr>
            <a:r>
              <a:rPr lang="fr-FR" sz="2000" dirty="0"/>
              <a:t>L’administrateur peut consulter l’ensemble des demandes de réservation et mettre à jour leur statut selon la situation administrative : En attente, Payé ou Annulée. Cette fonctionnalité facilite le suivi des inscriptions et améliore l’organisation des ateliers.</a:t>
            </a:r>
          </a:p>
          <a:p>
            <a:pPr>
              <a:lnSpc>
                <a:spcPct val="150000"/>
              </a:lnSpc>
            </a:pPr>
            <a:r>
              <a:rPr lang="fr-FR" sz="2000" b="1" dirty="0"/>
              <a:t>4</a:t>
            </a:r>
            <a:r>
              <a:rPr lang="fr-FR" sz="2400" b="1" dirty="0"/>
              <a:t>. Génération automatique des rapports pédagogiques PDF</a:t>
            </a:r>
          </a:p>
          <a:p>
            <a:pPr>
              <a:lnSpc>
                <a:spcPct val="150000"/>
              </a:lnSpc>
            </a:pPr>
            <a:r>
              <a:rPr lang="fr-FR" sz="2000" dirty="0"/>
              <a:t>Les formateurs disposent d’un module permettant de saisir les informations pédagogiques relatives à chaque élève (présence, compétences, observations et évaluations). Le système génère automatiquement un rapport professionnel au format PDF prêt à être téléchargé ou partagé.</a:t>
            </a:r>
          </a:p>
        </p:txBody>
      </p:sp>
    </p:spTree>
    <p:extLst>
      <p:ext uri="{BB962C8B-B14F-4D97-AF65-F5344CB8AC3E}">
        <p14:creationId xmlns:p14="http://schemas.microsoft.com/office/powerpoint/2010/main" val="487344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633139-0DB1-36A1-3E08-E96DB39F5F2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xmlns="" id="{15FAF20F-2034-0D34-4092-BEBE76DEFEC2}"/>
              </a:ext>
            </a:extLst>
          </p:cNvPr>
          <p:cNvSpPr>
            <a:spLocks noGrp="1"/>
          </p:cNvSpPr>
          <p:nvPr>
            <p:ph type="title"/>
          </p:nvPr>
        </p:nvSpPr>
        <p:spPr>
          <a:xfrm>
            <a:off x="581193" y="804396"/>
            <a:ext cx="11016045" cy="716823"/>
          </a:xfrm>
        </p:spPr>
        <p:txBody>
          <a:bodyPr rtlCol="0">
            <a:normAutofit/>
          </a:bodyPr>
          <a:lstStyle/>
          <a:p>
            <a:pPr algn="ctr"/>
            <a:r>
              <a:rPr lang="fr-FR" sz="3200" b="1" dirty="0"/>
              <a:t>FONCTIONNALITÉS PRINCIPALES</a:t>
            </a:r>
          </a:p>
        </p:txBody>
      </p:sp>
      <p:sp>
        <p:nvSpPr>
          <p:cNvPr id="7" name="TextBox 6">
            <a:extLst>
              <a:ext uri="{FF2B5EF4-FFF2-40B4-BE49-F238E27FC236}">
                <a16:creationId xmlns:a16="http://schemas.microsoft.com/office/drawing/2014/main" xmlns="" id="{AB0B7051-FA4C-B297-E472-FE383AD38B23}"/>
              </a:ext>
            </a:extLst>
          </p:cNvPr>
          <p:cNvSpPr txBox="1"/>
          <p:nvPr/>
        </p:nvSpPr>
        <p:spPr>
          <a:xfrm>
            <a:off x="518264" y="2345593"/>
            <a:ext cx="11155471" cy="2438745"/>
          </a:xfrm>
          <a:prstGeom prst="rect">
            <a:avLst/>
          </a:prstGeom>
          <a:noFill/>
        </p:spPr>
        <p:txBody>
          <a:bodyPr wrap="square" numCol="1" rtlCol="0">
            <a:spAutoFit/>
          </a:bodyPr>
          <a:lstStyle/>
          <a:p>
            <a:pPr>
              <a:lnSpc>
                <a:spcPct val="150000"/>
              </a:lnSpc>
            </a:pPr>
            <a:r>
              <a:rPr lang="fr-FR" sz="2400" dirty="0"/>
              <a:t>5.</a:t>
            </a:r>
            <a:r>
              <a:rPr lang="fr-FR" sz="2400" b="1" dirty="0"/>
              <a:t> Envoi des rapports et gestion des accès</a:t>
            </a:r>
          </a:p>
          <a:p>
            <a:pPr>
              <a:lnSpc>
                <a:spcPct val="150000"/>
              </a:lnSpc>
            </a:pPr>
            <a:r>
              <a:rPr lang="fr-FR" sz="2000" dirty="0"/>
              <a:t>Une fois le rapport généré, le formateur peut l’envoyer directement au parent par courrier électronique avec le document PDF en pièce jointe. Le système intègre également une gestion des rôles (Administrateur, Parent et Formateur) garantissant que chaque utilisateur accède uniquement aux fonctionnalités et aux informations qui lui sont autorisées.</a:t>
            </a:r>
            <a:endParaRPr lang="fr-FR" sz="2000" dirty="0">
              <a:effectLst/>
            </a:endParaRPr>
          </a:p>
        </p:txBody>
      </p:sp>
    </p:spTree>
    <p:extLst>
      <p:ext uri="{BB962C8B-B14F-4D97-AF65-F5344CB8AC3E}">
        <p14:creationId xmlns:p14="http://schemas.microsoft.com/office/powerpoint/2010/main" val="1041741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BE6C7F-BCFE-2A6B-6BF2-A620D2FEB317}"/>
              </a:ext>
            </a:extLst>
          </p:cNvPr>
          <p:cNvSpPr>
            <a:spLocks noGrp="1"/>
          </p:cNvSpPr>
          <p:nvPr>
            <p:ph type="title"/>
          </p:nvPr>
        </p:nvSpPr>
        <p:spPr>
          <a:xfrm>
            <a:off x="673609" y="856526"/>
            <a:ext cx="11029616" cy="583671"/>
          </a:xfrm>
        </p:spPr>
        <p:txBody>
          <a:bodyPr/>
          <a:lstStyle/>
          <a:p>
            <a:pPr algn="ctr"/>
            <a:r>
              <a:rPr lang="fr-FR" dirty="0"/>
              <a:t>CONCEPTION (CAS D'UTILISATION)</a:t>
            </a:r>
          </a:p>
        </p:txBody>
      </p:sp>
      <p:pic>
        <p:nvPicPr>
          <p:cNvPr id="8" name="Picture 7">
            <a:extLst>
              <a:ext uri="{FF2B5EF4-FFF2-40B4-BE49-F238E27FC236}">
                <a16:creationId xmlns:a16="http://schemas.microsoft.com/office/drawing/2014/main" xmlns="" id="{48774D36-8182-6F1A-9C88-5232EF3641B4}"/>
              </a:ext>
            </a:extLst>
          </p:cNvPr>
          <p:cNvPicPr>
            <a:picLocks noChangeAspect="1"/>
          </p:cNvPicPr>
          <p:nvPr/>
        </p:nvPicPr>
        <p:blipFill>
          <a:blip r:embed="rId2"/>
          <a:stretch>
            <a:fillRect/>
          </a:stretch>
        </p:blipFill>
        <p:spPr>
          <a:xfrm>
            <a:off x="2069329" y="1931014"/>
            <a:ext cx="8053342" cy="4843195"/>
          </a:xfrm>
          <a:prstGeom prst="rect">
            <a:avLst/>
          </a:prstGeom>
        </p:spPr>
      </p:pic>
    </p:spTree>
    <p:extLst>
      <p:ext uri="{BB962C8B-B14F-4D97-AF65-F5344CB8AC3E}">
        <p14:creationId xmlns:p14="http://schemas.microsoft.com/office/powerpoint/2010/main" val="3012083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15783B3-6710-8DB7-8947-B0A51E62D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1E8899B-D1AB-6FF4-5C05-D296DC03D099}"/>
              </a:ext>
            </a:extLst>
          </p:cNvPr>
          <p:cNvSpPr>
            <a:spLocks noGrp="1"/>
          </p:cNvSpPr>
          <p:nvPr>
            <p:ph type="title"/>
          </p:nvPr>
        </p:nvSpPr>
        <p:spPr>
          <a:xfrm>
            <a:off x="673609" y="856526"/>
            <a:ext cx="11029616" cy="583671"/>
          </a:xfrm>
        </p:spPr>
        <p:txBody>
          <a:bodyPr/>
          <a:lstStyle/>
          <a:p>
            <a:pPr algn="ctr"/>
            <a:r>
              <a:rPr lang="fr-FR" dirty="0"/>
              <a:t>CONCEPTION (diagramme De classe)</a:t>
            </a:r>
          </a:p>
        </p:txBody>
      </p:sp>
      <p:pic>
        <p:nvPicPr>
          <p:cNvPr id="5" name="Picture 4">
            <a:extLst>
              <a:ext uri="{FF2B5EF4-FFF2-40B4-BE49-F238E27FC236}">
                <a16:creationId xmlns:a16="http://schemas.microsoft.com/office/drawing/2014/main" xmlns="" id="{3C207032-4032-AB82-0FF6-A3EB0C19382D}"/>
              </a:ext>
            </a:extLst>
          </p:cNvPr>
          <p:cNvPicPr>
            <a:picLocks noChangeAspect="1"/>
          </p:cNvPicPr>
          <p:nvPr/>
        </p:nvPicPr>
        <p:blipFill>
          <a:blip r:embed="rId2"/>
          <a:stretch>
            <a:fillRect/>
          </a:stretch>
        </p:blipFill>
        <p:spPr>
          <a:xfrm>
            <a:off x="2477826" y="2063415"/>
            <a:ext cx="6457829" cy="4510883"/>
          </a:xfrm>
          <a:prstGeom prst="rect">
            <a:avLst/>
          </a:prstGeom>
        </p:spPr>
      </p:pic>
    </p:spTree>
    <p:extLst>
      <p:ext uri="{BB962C8B-B14F-4D97-AF65-F5344CB8AC3E}">
        <p14:creationId xmlns:p14="http://schemas.microsoft.com/office/powerpoint/2010/main" val="1387548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69F6F9C-E23C-DE7F-F822-7E13C8623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6B713EC-9578-70B2-D053-17374851CF7C}"/>
              </a:ext>
            </a:extLst>
          </p:cNvPr>
          <p:cNvSpPr>
            <a:spLocks noGrp="1"/>
          </p:cNvSpPr>
          <p:nvPr>
            <p:ph type="title"/>
          </p:nvPr>
        </p:nvSpPr>
        <p:spPr>
          <a:xfrm>
            <a:off x="673609" y="856526"/>
            <a:ext cx="11029616" cy="583671"/>
          </a:xfrm>
        </p:spPr>
        <p:txBody>
          <a:bodyPr/>
          <a:lstStyle/>
          <a:p>
            <a:pPr algn="ctr"/>
            <a:r>
              <a:rPr lang="fr-FR" dirty="0"/>
              <a:t>CHOIX TECHNIQUES</a:t>
            </a:r>
          </a:p>
        </p:txBody>
      </p:sp>
      <p:sp>
        <p:nvSpPr>
          <p:cNvPr id="3" name="TextBox 2">
            <a:extLst>
              <a:ext uri="{FF2B5EF4-FFF2-40B4-BE49-F238E27FC236}">
                <a16:creationId xmlns:a16="http://schemas.microsoft.com/office/drawing/2014/main" xmlns="" id="{E4BF16A9-1D02-D4D2-F662-9E4DB130E648}"/>
              </a:ext>
            </a:extLst>
          </p:cNvPr>
          <p:cNvSpPr txBox="1"/>
          <p:nvPr/>
        </p:nvSpPr>
        <p:spPr>
          <a:xfrm>
            <a:off x="833378" y="2384384"/>
            <a:ext cx="11182364" cy="3370153"/>
          </a:xfrm>
          <a:prstGeom prst="rect">
            <a:avLst/>
          </a:prstGeom>
          <a:noFill/>
        </p:spPr>
        <p:txBody>
          <a:bodyPr wrap="square" numCol="2" rtlCol="0">
            <a:spAutoFit/>
          </a:bodyPr>
          <a:lstStyle/>
          <a:p>
            <a:pPr marL="457200" indent="-457200">
              <a:lnSpc>
                <a:spcPct val="150000"/>
              </a:lnSpc>
              <a:buFont typeface="Wingdings" panose="05000000000000000000" pitchFamily="2" charset="2"/>
              <a:buChar char="q"/>
            </a:pPr>
            <a:r>
              <a:rPr lang="fr-FR" sz="2800" b="1" dirty="0" err="1"/>
              <a:t>Front-End</a:t>
            </a:r>
            <a:endParaRPr lang="fr-FR" sz="2800" b="1" dirty="0"/>
          </a:p>
          <a:p>
            <a:pPr marL="285750" indent="-285750">
              <a:lnSpc>
                <a:spcPct val="150000"/>
              </a:lnSpc>
              <a:buFont typeface="Wingdings" panose="05000000000000000000" pitchFamily="2" charset="2"/>
              <a:buChar char="Ø"/>
            </a:pPr>
            <a:r>
              <a:rPr lang="fr-FR" sz="2000" dirty="0"/>
              <a:t>React.js </a:t>
            </a:r>
          </a:p>
          <a:p>
            <a:pPr marL="285750" indent="-285750">
              <a:lnSpc>
                <a:spcPct val="150000"/>
              </a:lnSpc>
              <a:buFont typeface="Wingdings" panose="05000000000000000000" pitchFamily="2" charset="2"/>
              <a:buChar char="Ø"/>
            </a:pPr>
            <a:r>
              <a:rPr lang="fr-FR" sz="2000" dirty="0"/>
              <a:t>Bootstrap </a:t>
            </a:r>
          </a:p>
          <a:p>
            <a:pPr marL="457200" indent="-457200">
              <a:lnSpc>
                <a:spcPct val="150000"/>
              </a:lnSpc>
              <a:buFont typeface="Wingdings" panose="05000000000000000000" pitchFamily="2" charset="2"/>
              <a:buChar char="q"/>
            </a:pPr>
            <a:r>
              <a:rPr lang="fr-FR" sz="2800" b="1" dirty="0" err="1"/>
              <a:t>Back-End</a:t>
            </a:r>
            <a:endParaRPr lang="fr-FR" sz="2800" b="1" dirty="0"/>
          </a:p>
          <a:p>
            <a:pPr marL="285750" indent="-285750">
              <a:lnSpc>
                <a:spcPct val="150000"/>
              </a:lnSpc>
              <a:buFont typeface="Wingdings" panose="05000000000000000000" pitchFamily="2" charset="2"/>
              <a:buChar char="Ø"/>
            </a:pPr>
            <a:r>
              <a:rPr lang="fr-FR" sz="2000" dirty="0" err="1"/>
              <a:t>Laravel</a:t>
            </a:r>
            <a:r>
              <a:rPr lang="fr-FR" sz="2000" dirty="0"/>
              <a:t> </a:t>
            </a:r>
          </a:p>
          <a:p>
            <a:pPr marL="457200" indent="-457200">
              <a:lnSpc>
                <a:spcPct val="150000"/>
              </a:lnSpc>
              <a:buFont typeface="Wingdings" panose="05000000000000000000" pitchFamily="2" charset="2"/>
              <a:buChar char="q"/>
            </a:pPr>
            <a:r>
              <a:rPr lang="fr-FR" sz="2800" b="1" dirty="0"/>
              <a:t>Base de données </a:t>
            </a:r>
          </a:p>
          <a:p>
            <a:pPr marL="285750" indent="-285750">
              <a:lnSpc>
                <a:spcPct val="150000"/>
              </a:lnSpc>
              <a:buFont typeface="Wingdings" panose="05000000000000000000" pitchFamily="2" charset="2"/>
              <a:buChar char="Ø"/>
            </a:pPr>
            <a:r>
              <a:rPr lang="fr-FR" sz="2000" dirty="0"/>
              <a:t> MySQL</a:t>
            </a:r>
            <a:r>
              <a:rPr lang="fr-FR" dirty="0"/>
              <a:t> </a:t>
            </a:r>
          </a:p>
          <a:p>
            <a:pPr marL="457200" indent="-457200">
              <a:lnSpc>
                <a:spcPct val="150000"/>
              </a:lnSpc>
              <a:buFont typeface="Wingdings" panose="05000000000000000000" pitchFamily="2" charset="2"/>
              <a:buChar char="q"/>
            </a:pPr>
            <a:r>
              <a:rPr lang="fr-FR" sz="2800" b="1" dirty="0"/>
              <a:t>Outils</a:t>
            </a:r>
          </a:p>
          <a:p>
            <a:pPr marL="285750" indent="-285750">
              <a:lnSpc>
                <a:spcPct val="150000"/>
              </a:lnSpc>
              <a:buFont typeface="Wingdings" panose="05000000000000000000" pitchFamily="2" charset="2"/>
              <a:buChar char="Ø"/>
            </a:pPr>
            <a:r>
              <a:rPr lang="fr-FR" sz="2000" dirty="0"/>
              <a:t>VS Code </a:t>
            </a:r>
          </a:p>
          <a:p>
            <a:pPr marL="285750" indent="-285750">
              <a:lnSpc>
                <a:spcPct val="150000"/>
              </a:lnSpc>
              <a:buFont typeface="Wingdings" panose="05000000000000000000" pitchFamily="2" charset="2"/>
              <a:buChar char="Ø"/>
            </a:pPr>
            <a:r>
              <a:rPr lang="fr-FR" sz="2000" dirty="0"/>
              <a:t>GitHub </a:t>
            </a:r>
          </a:p>
          <a:p>
            <a:pPr marL="285750" indent="-285750">
              <a:lnSpc>
                <a:spcPct val="150000"/>
              </a:lnSpc>
              <a:buFont typeface="Wingdings" panose="05000000000000000000" pitchFamily="2" charset="2"/>
              <a:buChar char="Ø"/>
            </a:pPr>
            <a:r>
              <a:rPr lang="fr-FR" sz="2000" dirty="0"/>
              <a:t>Postman</a:t>
            </a:r>
          </a:p>
          <a:p>
            <a:pPr>
              <a:lnSpc>
                <a:spcPct val="150000"/>
              </a:lnSpc>
            </a:pPr>
            <a:endParaRPr lang="fr-FR" dirty="0"/>
          </a:p>
        </p:txBody>
      </p:sp>
    </p:spTree>
    <p:extLst>
      <p:ext uri="{BB962C8B-B14F-4D97-AF65-F5344CB8AC3E}">
        <p14:creationId xmlns:p14="http://schemas.microsoft.com/office/powerpoint/2010/main" val="1812225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851A479-64A4-26F8-EB68-39D5624B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A0B8589-AEC2-2F1C-51C5-35A7E0BFFFDA}"/>
              </a:ext>
            </a:extLst>
          </p:cNvPr>
          <p:cNvSpPr>
            <a:spLocks noGrp="1"/>
          </p:cNvSpPr>
          <p:nvPr>
            <p:ph type="title"/>
          </p:nvPr>
        </p:nvSpPr>
        <p:spPr>
          <a:xfrm>
            <a:off x="673609" y="856526"/>
            <a:ext cx="11029616" cy="583671"/>
          </a:xfrm>
        </p:spPr>
        <p:txBody>
          <a:bodyPr/>
          <a:lstStyle/>
          <a:p>
            <a:pPr algn="ctr"/>
            <a:r>
              <a:rPr lang="fr-FR" dirty="0"/>
              <a:t>RÉALISATION – DÉMONSTRATION</a:t>
            </a:r>
          </a:p>
        </p:txBody>
      </p:sp>
      <p:sp>
        <p:nvSpPr>
          <p:cNvPr id="3" name="TextBox 2">
            <a:extLst>
              <a:ext uri="{FF2B5EF4-FFF2-40B4-BE49-F238E27FC236}">
                <a16:creationId xmlns:a16="http://schemas.microsoft.com/office/drawing/2014/main" xmlns="" id="{96A50FB5-9F5E-6EA9-5D65-D0C67AE45200}"/>
              </a:ext>
            </a:extLst>
          </p:cNvPr>
          <p:cNvSpPr txBox="1"/>
          <p:nvPr/>
        </p:nvSpPr>
        <p:spPr>
          <a:xfrm>
            <a:off x="544009" y="2303359"/>
            <a:ext cx="10284412" cy="4339650"/>
          </a:xfrm>
          <a:prstGeom prst="rect">
            <a:avLst/>
          </a:prstGeom>
          <a:noFill/>
        </p:spPr>
        <p:txBody>
          <a:bodyPr wrap="square" numCol="1" rtlCol="0">
            <a:spAutoFit/>
          </a:bodyPr>
          <a:lstStyle/>
          <a:p>
            <a:pPr>
              <a:lnSpc>
                <a:spcPct val="150000"/>
              </a:lnSpc>
            </a:pPr>
            <a:r>
              <a:rPr lang="fr-FR" sz="2400" b="1" dirty="0"/>
              <a:t>Scénario principal : Réservation d’un </a:t>
            </a:r>
            <a:r>
              <a:rPr lang="fr-FR" sz="2400" b="1" dirty="0" smtClean="0"/>
              <a:t>atelier</a:t>
            </a:r>
          </a:p>
          <a:p>
            <a:pPr>
              <a:lnSpc>
                <a:spcPct val="150000"/>
              </a:lnSpc>
            </a:pPr>
            <a:r>
              <a:rPr lang="fr-FR" sz="2000" dirty="0" smtClean="0"/>
              <a:t>1</a:t>
            </a:r>
            <a:r>
              <a:rPr lang="fr-FR" sz="2000" dirty="0"/>
              <a:t>. Le parent crée un compte à travers le formulaire d’inscription.</a:t>
            </a:r>
          </a:p>
          <a:p>
            <a:pPr>
              <a:lnSpc>
                <a:spcPct val="150000"/>
              </a:lnSpc>
            </a:pPr>
            <a:r>
              <a:rPr lang="fr-FR" sz="2000" dirty="0"/>
              <a:t>2. Il se connecte à son espace personnel.</a:t>
            </a:r>
          </a:p>
          <a:p>
            <a:pPr>
              <a:lnSpc>
                <a:spcPct val="150000"/>
              </a:lnSpc>
            </a:pPr>
            <a:r>
              <a:rPr lang="fr-FR" sz="2000" dirty="0"/>
              <a:t>3. Il consulte les ateliers disponibles.</a:t>
            </a:r>
          </a:p>
          <a:p>
            <a:pPr>
              <a:lnSpc>
                <a:spcPct val="150000"/>
              </a:lnSpc>
            </a:pPr>
            <a:r>
              <a:rPr lang="fr-FR" sz="2000" dirty="0"/>
              <a:t>4. Il sélectionne un atelier et clique sur « Réserver maintenant ».</a:t>
            </a:r>
          </a:p>
          <a:p>
            <a:pPr>
              <a:lnSpc>
                <a:spcPct val="150000"/>
              </a:lnSpc>
            </a:pPr>
            <a:r>
              <a:rPr lang="fr-FR" sz="2000" dirty="0"/>
              <a:t>5. Le système enregistre la demande de réservation et affiche un message de confirmation.</a:t>
            </a:r>
          </a:p>
          <a:p>
            <a:pPr>
              <a:lnSpc>
                <a:spcPct val="150000"/>
              </a:lnSpc>
            </a:pPr>
            <a:r>
              <a:rPr lang="fr-FR" sz="2000" dirty="0"/>
              <a:t>6. La réservation apparaît dans l’espace du parent avec le statut « En attente </a:t>
            </a:r>
            <a:r>
              <a:rPr lang="fr-FR" sz="2000" dirty="0" smtClean="0"/>
              <a:t>».</a:t>
            </a:r>
          </a:p>
          <a:p>
            <a:pPr>
              <a:lnSpc>
                <a:spcPct val="150000"/>
              </a:lnSpc>
            </a:pPr>
            <a:r>
              <a:rPr lang="fr-FR" sz="2000" b="1" dirty="0"/>
              <a:t>7. </a:t>
            </a:r>
            <a:r>
              <a:rPr lang="fr-FR" sz="2000" dirty="0"/>
              <a:t>L’administrateur consulte les demandes reçues et met à jour leur statut (En attente, Payé ou Annulée).</a:t>
            </a:r>
          </a:p>
        </p:txBody>
      </p:sp>
    </p:spTree>
    <p:extLst>
      <p:ext uri="{BB962C8B-B14F-4D97-AF65-F5344CB8AC3E}">
        <p14:creationId xmlns:p14="http://schemas.microsoft.com/office/powerpoint/2010/main" val="1257868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47F74EB-9290-1E83-D779-BDFB9CA64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D99BD84-491B-DD4C-C270-2429AFF76E07}"/>
              </a:ext>
            </a:extLst>
          </p:cNvPr>
          <p:cNvSpPr>
            <a:spLocks noGrp="1"/>
          </p:cNvSpPr>
          <p:nvPr>
            <p:ph type="title"/>
          </p:nvPr>
        </p:nvSpPr>
        <p:spPr>
          <a:xfrm>
            <a:off x="673609" y="856526"/>
            <a:ext cx="11029616" cy="583671"/>
          </a:xfrm>
        </p:spPr>
        <p:txBody>
          <a:bodyPr/>
          <a:lstStyle/>
          <a:p>
            <a:pPr algn="ctr"/>
            <a:r>
              <a:rPr lang="fr-FR" dirty="0"/>
              <a:t>RÉALISATION – DÉMONSTRATION</a:t>
            </a:r>
          </a:p>
        </p:txBody>
      </p:sp>
      <p:sp>
        <p:nvSpPr>
          <p:cNvPr id="3" name="TextBox 2">
            <a:extLst>
              <a:ext uri="{FF2B5EF4-FFF2-40B4-BE49-F238E27FC236}">
                <a16:creationId xmlns:a16="http://schemas.microsoft.com/office/drawing/2014/main" xmlns="" id="{E0FE6262-0D91-637A-12EB-B9FEC728A08C}"/>
              </a:ext>
            </a:extLst>
          </p:cNvPr>
          <p:cNvSpPr txBox="1"/>
          <p:nvPr/>
        </p:nvSpPr>
        <p:spPr>
          <a:xfrm>
            <a:off x="544009" y="2303359"/>
            <a:ext cx="11460157" cy="3831818"/>
          </a:xfrm>
          <a:prstGeom prst="rect">
            <a:avLst/>
          </a:prstGeom>
          <a:noFill/>
        </p:spPr>
        <p:txBody>
          <a:bodyPr wrap="square" numCol="1" rtlCol="0">
            <a:spAutoFit/>
          </a:bodyPr>
          <a:lstStyle/>
          <a:p>
            <a:pPr>
              <a:lnSpc>
                <a:spcPct val="150000"/>
              </a:lnSpc>
            </a:pPr>
            <a:r>
              <a:rPr lang="fr-FR" b="1" dirty="0" smtClean="0"/>
              <a:t>8</a:t>
            </a:r>
            <a:r>
              <a:rPr lang="fr-FR" b="1" dirty="0"/>
              <a:t>. </a:t>
            </a:r>
            <a:r>
              <a:rPr lang="fr-FR" dirty="0"/>
              <a:t>Le formateur accède à son espace de travail et sélectionne l’élève concerné.</a:t>
            </a:r>
          </a:p>
          <a:p>
            <a:pPr>
              <a:lnSpc>
                <a:spcPct val="150000"/>
              </a:lnSpc>
            </a:pPr>
            <a:r>
              <a:rPr lang="fr-FR" b="1" dirty="0"/>
              <a:t>9. </a:t>
            </a:r>
            <a:r>
              <a:rPr lang="fr-FR" dirty="0"/>
              <a:t>Il choisit l’atelier ainsi que la période pédagogique.</a:t>
            </a:r>
          </a:p>
          <a:p>
            <a:pPr>
              <a:lnSpc>
                <a:spcPct val="150000"/>
              </a:lnSpc>
            </a:pPr>
            <a:r>
              <a:rPr lang="fr-FR" b="1" dirty="0"/>
              <a:t>10. </a:t>
            </a:r>
            <a:r>
              <a:rPr lang="fr-FR" dirty="0"/>
              <a:t>Il saisit les informations relatives à l’élève (présence, compétences, observations et évaluations).</a:t>
            </a:r>
          </a:p>
          <a:p>
            <a:pPr>
              <a:lnSpc>
                <a:spcPct val="150000"/>
              </a:lnSpc>
            </a:pPr>
            <a:r>
              <a:rPr lang="fr-FR" b="1" dirty="0"/>
              <a:t>11. </a:t>
            </a:r>
            <a:r>
              <a:rPr lang="fr-FR" dirty="0"/>
              <a:t>Le système génère automatiquement un rapport pédagogique au format PDF.</a:t>
            </a:r>
          </a:p>
          <a:p>
            <a:pPr>
              <a:lnSpc>
                <a:spcPct val="150000"/>
              </a:lnSpc>
            </a:pPr>
            <a:r>
              <a:rPr lang="fr-FR" b="1" dirty="0"/>
              <a:t>12. </a:t>
            </a:r>
            <a:r>
              <a:rPr lang="fr-FR" dirty="0"/>
              <a:t>Le formateur peut télécharger le rapport ou l’envoyer directement au parent par courrier électronique grâce au serveur SMTP intégré.</a:t>
            </a:r>
          </a:p>
          <a:p>
            <a:pPr>
              <a:lnSpc>
                <a:spcPct val="150000"/>
              </a:lnSpc>
            </a:pPr>
            <a:r>
              <a:rPr lang="fr-FR" b="1" dirty="0"/>
              <a:t>13. </a:t>
            </a:r>
            <a:r>
              <a:rPr lang="fr-FR" dirty="0"/>
              <a:t>Le parent reçoit le rapport PDF par email.</a:t>
            </a:r>
          </a:p>
          <a:p>
            <a:pPr>
              <a:lnSpc>
                <a:spcPct val="150000"/>
              </a:lnSpc>
            </a:pPr>
            <a:r>
              <a:rPr lang="fr-FR" b="1" dirty="0"/>
              <a:t>14</a:t>
            </a:r>
            <a:r>
              <a:rPr lang="fr-FR" dirty="0"/>
              <a:t>. Le rapport est également accessible depuis l’espace personnel du parent afin qu’il puisse consulter l’historique du suivi pédagogique de son enfant.</a:t>
            </a:r>
          </a:p>
        </p:txBody>
      </p:sp>
    </p:spTree>
    <p:extLst>
      <p:ext uri="{BB962C8B-B14F-4D97-AF65-F5344CB8AC3E}">
        <p14:creationId xmlns:p14="http://schemas.microsoft.com/office/powerpoint/2010/main" val="398620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5B276B-1AED-38E2-5045-40BE7B6E1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B1B40B3-BB8D-7571-03C4-06BF332B45B3}"/>
              </a:ext>
            </a:extLst>
          </p:cNvPr>
          <p:cNvSpPr>
            <a:spLocks noGrp="1"/>
          </p:cNvSpPr>
          <p:nvPr>
            <p:ph type="title"/>
          </p:nvPr>
        </p:nvSpPr>
        <p:spPr>
          <a:xfrm>
            <a:off x="673609" y="856526"/>
            <a:ext cx="11029616" cy="583671"/>
          </a:xfrm>
        </p:spPr>
        <p:txBody>
          <a:bodyPr/>
          <a:lstStyle/>
          <a:p>
            <a:pPr algn="ctr"/>
            <a:r>
              <a:rPr lang="fr-FR" dirty="0"/>
              <a:t>DIFFICULTÉS RENCONTRÉES</a:t>
            </a:r>
          </a:p>
        </p:txBody>
      </p:sp>
      <p:sp>
        <p:nvSpPr>
          <p:cNvPr id="3" name="TextBox 2">
            <a:extLst>
              <a:ext uri="{FF2B5EF4-FFF2-40B4-BE49-F238E27FC236}">
                <a16:creationId xmlns:a16="http://schemas.microsoft.com/office/drawing/2014/main" xmlns="" id="{E9EBDC30-A7EC-82BC-E0A2-2F98E7184410}"/>
              </a:ext>
            </a:extLst>
          </p:cNvPr>
          <p:cNvSpPr txBox="1"/>
          <p:nvPr/>
        </p:nvSpPr>
        <p:spPr>
          <a:xfrm>
            <a:off x="690050" y="3211102"/>
            <a:ext cx="11182364" cy="2069413"/>
          </a:xfrm>
          <a:prstGeom prst="rect">
            <a:avLst/>
          </a:prstGeom>
          <a:noFill/>
        </p:spPr>
        <p:txBody>
          <a:bodyPr wrap="square" numCol="2" rtlCol="0">
            <a:spAutoFit/>
          </a:bodyPr>
          <a:lstStyle/>
          <a:p>
            <a:pPr marL="457200" indent="-457200">
              <a:lnSpc>
                <a:spcPct val="150000"/>
              </a:lnSpc>
              <a:buFont typeface="Wingdings" panose="05000000000000000000" pitchFamily="2" charset="2"/>
              <a:buChar char="q"/>
            </a:pPr>
            <a:r>
              <a:rPr lang="fr-FR" sz="2800" b="1" dirty="0"/>
              <a:t>Difficultés</a:t>
            </a:r>
          </a:p>
          <a:p>
            <a:pPr marL="342900" indent="-342900">
              <a:lnSpc>
                <a:spcPct val="150000"/>
              </a:lnSpc>
              <a:buFont typeface="Wingdings" panose="05000000000000000000" pitchFamily="2" charset="2"/>
              <a:buChar char="Ø"/>
            </a:pPr>
            <a:r>
              <a:rPr lang="fr-FR" sz="2000" dirty="0"/>
              <a:t>Conception de la base de données </a:t>
            </a:r>
          </a:p>
          <a:p>
            <a:pPr marL="342900" indent="-342900">
              <a:lnSpc>
                <a:spcPct val="150000"/>
              </a:lnSpc>
              <a:buFont typeface="Wingdings" panose="05000000000000000000" pitchFamily="2" charset="2"/>
              <a:buChar char="Ø"/>
            </a:pPr>
            <a:r>
              <a:rPr lang="fr-FR" sz="2000" dirty="0"/>
              <a:t>Gestion des relations entre les entités </a:t>
            </a:r>
          </a:p>
          <a:p>
            <a:pPr marL="342900" indent="-342900">
              <a:lnSpc>
                <a:spcPct val="150000"/>
              </a:lnSpc>
              <a:buFont typeface="Wingdings" panose="05000000000000000000" pitchFamily="2" charset="2"/>
              <a:buChar char="Ø"/>
            </a:pPr>
            <a:r>
              <a:rPr lang="fr-FR" sz="2000" dirty="0"/>
              <a:t>Génération des rapports PDF </a:t>
            </a:r>
          </a:p>
          <a:p>
            <a:pPr marL="457200" indent="-457200">
              <a:lnSpc>
                <a:spcPct val="150000"/>
              </a:lnSpc>
              <a:buFont typeface="Wingdings" panose="05000000000000000000" pitchFamily="2" charset="2"/>
              <a:buChar char="q"/>
            </a:pPr>
            <a:r>
              <a:rPr lang="fr-FR" sz="2800" b="1" dirty="0"/>
              <a:t>Solutions</a:t>
            </a:r>
          </a:p>
          <a:p>
            <a:pPr marL="342900" indent="-342900">
              <a:lnSpc>
                <a:spcPct val="150000"/>
              </a:lnSpc>
              <a:buFont typeface="Wingdings" panose="05000000000000000000" pitchFamily="2" charset="2"/>
              <a:buChar char="Ø"/>
            </a:pPr>
            <a:r>
              <a:rPr lang="fr-FR" sz="2000" dirty="0"/>
              <a:t>Réorganisation du modèle de données </a:t>
            </a:r>
          </a:p>
          <a:p>
            <a:pPr marL="342900" indent="-342900">
              <a:lnSpc>
                <a:spcPct val="150000"/>
              </a:lnSpc>
              <a:buFont typeface="Wingdings" panose="05000000000000000000" pitchFamily="2" charset="2"/>
              <a:buChar char="Ø"/>
            </a:pPr>
            <a:r>
              <a:rPr lang="fr-FR" sz="2000" dirty="0"/>
              <a:t>Validation progressive des fonctionnalités </a:t>
            </a:r>
          </a:p>
          <a:p>
            <a:pPr marL="342900" indent="-342900">
              <a:lnSpc>
                <a:spcPct val="150000"/>
              </a:lnSpc>
              <a:buFont typeface="Wingdings" panose="05000000000000000000" pitchFamily="2" charset="2"/>
              <a:buChar char="Ø"/>
            </a:pPr>
            <a:r>
              <a:rPr lang="fr-FR" sz="2000" dirty="0"/>
              <a:t>Utilisation d'outils adaptés sous </a:t>
            </a:r>
            <a:r>
              <a:rPr lang="fr-FR" sz="2000" dirty="0" err="1"/>
              <a:t>Laravel</a:t>
            </a:r>
            <a:endParaRPr lang="fr-FR" sz="2000" dirty="0"/>
          </a:p>
        </p:txBody>
      </p:sp>
    </p:spTree>
    <p:extLst>
      <p:ext uri="{BB962C8B-B14F-4D97-AF65-F5344CB8AC3E}">
        <p14:creationId xmlns:p14="http://schemas.microsoft.com/office/powerpoint/2010/main" val="1700088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5B276B-1AED-38E2-5045-40BE7B6E1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B1B40B3-BB8D-7571-03C4-06BF332B45B3}"/>
              </a:ext>
            </a:extLst>
          </p:cNvPr>
          <p:cNvSpPr>
            <a:spLocks noGrp="1"/>
          </p:cNvSpPr>
          <p:nvPr>
            <p:ph type="title"/>
          </p:nvPr>
        </p:nvSpPr>
        <p:spPr>
          <a:xfrm>
            <a:off x="673609" y="856526"/>
            <a:ext cx="11029616" cy="583671"/>
          </a:xfrm>
        </p:spPr>
        <p:txBody>
          <a:bodyPr/>
          <a:lstStyle/>
          <a:p>
            <a:pPr algn="ctr"/>
            <a:r>
              <a:rPr lang="fr-FR" dirty="0"/>
              <a:t>BILAN &amp; AMÉLIORATIONS POSSIBLES</a:t>
            </a:r>
          </a:p>
        </p:txBody>
      </p:sp>
      <p:sp>
        <p:nvSpPr>
          <p:cNvPr id="3" name="TextBox 2">
            <a:extLst>
              <a:ext uri="{FF2B5EF4-FFF2-40B4-BE49-F238E27FC236}">
                <a16:creationId xmlns:a16="http://schemas.microsoft.com/office/drawing/2014/main" xmlns="" id="{E9EBDC30-A7EC-82BC-E0A2-2F98E7184410}"/>
              </a:ext>
            </a:extLst>
          </p:cNvPr>
          <p:cNvSpPr txBox="1"/>
          <p:nvPr/>
        </p:nvSpPr>
        <p:spPr>
          <a:xfrm>
            <a:off x="354770" y="1873828"/>
            <a:ext cx="11182364" cy="4801314"/>
          </a:xfrm>
          <a:prstGeom prst="rect">
            <a:avLst/>
          </a:prstGeom>
          <a:noFill/>
        </p:spPr>
        <p:txBody>
          <a:bodyPr wrap="square" numCol="1" rtlCol="0">
            <a:spAutoFit/>
          </a:bodyPr>
          <a:lstStyle/>
          <a:p>
            <a:pPr>
              <a:lnSpc>
                <a:spcPct val="150000"/>
              </a:lnSpc>
            </a:pPr>
            <a:r>
              <a:rPr lang="fr-FR" sz="2400" b="1" dirty="0"/>
              <a:t>Ce qui a été réussi</a:t>
            </a:r>
          </a:p>
          <a:p>
            <a:pPr algn="just">
              <a:lnSpc>
                <a:spcPct val="150000"/>
              </a:lnSpc>
            </a:pPr>
            <a:r>
              <a:rPr lang="fr-FR" sz="2000" dirty="0"/>
              <a:t>Les principaux objectifs du projet ont été atteints avec succès</a:t>
            </a:r>
            <a:r>
              <a:rPr lang="fr-FR" sz="2000" dirty="0" smtClean="0"/>
              <a:t>. Nous </a:t>
            </a:r>
            <a:r>
              <a:rPr lang="fr-FR" sz="2000" dirty="0"/>
              <a:t>avons réussi à mettre en place un système d’authentification sécurisé avec une gestion des rôles permettant de distinguer les administrateurs, les parents et les formateurs.</a:t>
            </a:r>
          </a:p>
          <a:p>
            <a:pPr algn="just">
              <a:lnSpc>
                <a:spcPct val="150000"/>
              </a:lnSpc>
            </a:pPr>
            <a:r>
              <a:rPr lang="fr-FR" sz="2000" dirty="0"/>
              <a:t>L’application permet également la gestion des réservations ainsi que le suivi de leur statut. Les formateurs peuvent générer automatiquement des rapports pédagogiques au format PDF et les envoyer directement aux parents par courrier électronique grâce à l’intégration d’un serveur SMTP.</a:t>
            </a:r>
          </a:p>
          <a:p>
            <a:pPr algn="just">
              <a:lnSpc>
                <a:spcPct val="150000"/>
              </a:lnSpc>
            </a:pPr>
            <a:r>
              <a:rPr lang="fr-FR" sz="2000" dirty="0"/>
              <a:t>Les rapports générés sont conservés dans un historique et peuvent être consultés ultérieurement. Les parents disposent également d’un espace personnel leur permettant de consulter leurs réservations et les rapports associés à leurs enfants.</a:t>
            </a:r>
          </a:p>
        </p:txBody>
      </p:sp>
    </p:spTree>
    <p:extLst>
      <p:ext uri="{BB962C8B-B14F-4D97-AF65-F5344CB8AC3E}">
        <p14:creationId xmlns:p14="http://schemas.microsoft.com/office/powerpoint/2010/main" val="4010050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C3E6F08-62F9-A22A-8FE4-20593DDC17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5FD4222-0C2F-3CD2-B6A6-87B3A3F8659B}"/>
              </a:ext>
            </a:extLst>
          </p:cNvPr>
          <p:cNvSpPr>
            <a:spLocks noGrp="1"/>
          </p:cNvSpPr>
          <p:nvPr>
            <p:ph type="title"/>
          </p:nvPr>
        </p:nvSpPr>
        <p:spPr>
          <a:xfrm>
            <a:off x="673609" y="856526"/>
            <a:ext cx="11029616" cy="583671"/>
          </a:xfrm>
        </p:spPr>
        <p:txBody>
          <a:bodyPr/>
          <a:lstStyle/>
          <a:p>
            <a:pPr algn="ctr"/>
            <a:r>
              <a:rPr lang="fr-FR" dirty="0"/>
              <a:t>BILAN &amp; AMÉLIORATIONS POSSIBLES</a:t>
            </a:r>
          </a:p>
        </p:txBody>
      </p:sp>
      <p:sp>
        <p:nvSpPr>
          <p:cNvPr id="3" name="TextBox 2">
            <a:extLst>
              <a:ext uri="{FF2B5EF4-FFF2-40B4-BE49-F238E27FC236}">
                <a16:creationId xmlns:a16="http://schemas.microsoft.com/office/drawing/2014/main" xmlns="" id="{7562EAC6-AF9F-2A83-1C83-E76F5E861F4C}"/>
              </a:ext>
            </a:extLst>
          </p:cNvPr>
          <p:cNvSpPr txBox="1"/>
          <p:nvPr/>
        </p:nvSpPr>
        <p:spPr>
          <a:xfrm>
            <a:off x="504818" y="1649266"/>
            <a:ext cx="11544942" cy="5208734"/>
          </a:xfrm>
          <a:prstGeom prst="rect">
            <a:avLst/>
          </a:prstGeom>
          <a:noFill/>
        </p:spPr>
        <p:txBody>
          <a:bodyPr wrap="square" numCol="1" rtlCol="0">
            <a:spAutoFit/>
          </a:bodyPr>
          <a:lstStyle/>
          <a:p>
            <a:pPr algn="just">
              <a:lnSpc>
                <a:spcPct val="150000"/>
              </a:lnSpc>
            </a:pPr>
            <a:r>
              <a:rPr lang="fr-FR" sz="2400" b="1" dirty="0"/>
              <a:t>Améliorations possibles</a:t>
            </a:r>
          </a:p>
          <a:p>
            <a:pPr algn="just">
              <a:lnSpc>
                <a:spcPct val="150000"/>
              </a:lnSpc>
            </a:pPr>
            <a:r>
              <a:rPr lang="fr-FR" sz="2000" dirty="0"/>
              <a:t>Plusieurs améliorations pourraient être apportées dans une future version de l’application :</a:t>
            </a:r>
          </a:p>
          <a:p>
            <a:pPr marL="342900" indent="-342900" algn="just">
              <a:lnSpc>
                <a:spcPct val="150000"/>
              </a:lnSpc>
              <a:buFont typeface="Wingdings" panose="05000000000000000000" pitchFamily="2" charset="2"/>
              <a:buChar char="Ø"/>
            </a:pPr>
            <a:r>
              <a:rPr lang="fr-FR" sz="2000" dirty="0"/>
              <a:t> Mettre en place un contrôle plus avancé du processus de réservation afin qu’un atelier ne soit visible pour le formateur qu’après validation de l’administrateur</a:t>
            </a:r>
          </a:p>
          <a:p>
            <a:pPr marL="342900" indent="-342900" algn="just">
              <a:lnSpc>
                <a:spcPct val="150000"/>
              </a:lnSpc>
              <a:buFont typeface="Wingdings" panose="05000000000000000000" pitchFamily="2" charset="2"/>
              <a:buChar char="Ø"/>
            </a:pPr>
            <a:r>
              <a:rPr lang="fr-FR" sz="2000" dirty="0"/>
              <a:t> Permettre aux parents d’annuler une réservation directement depuis leur espace personnel.- </a:t>
            </a:r>
          </a:p>
          <a:p>
            <a:pPr marL="342900" indent="-342900" algn="just">
              <a:lnSpc>
                <a:spcPct val="150000"/>
              </a:lnSpc>
              <a:buFont typeface="Wingdings" panose="05000000000000000000" pitchFamily="2" charset="2"/>
              <a:buChar char="Ø"/>
            </a:pPr>
            <a:r>
              <a:rPr lang="fr-FR" sz="2000" dirty="0"/>
              <a:t>Autoriser la gestion de plusieurs élèves à partir d’un seul compte parent.- </a:t>
            </a:r>
          </a:p>
          <a:p>
            <a:pPr marL="342900" indent="-342900" algn="just">
              <a:lnSpc>
                <a:spcPct val="150000"/>
              </a:lnSpc>
              <a:buFont typeface="Wingdings" panose="05000000000000000000" pitchFamily="2" charset="2"/>
              <a:buChar char="Ø"/>
            </a:pPr>
            <a:r>
              <a:rPr lang="fr-FR" sz="2000" dirty="0"/>
              <a:t>Intégrer un système de paiement en ligne.- </a:t>
            </a:r>
          </a:p>
          <a:p>
            <a:pPr marL="342900" indent="-342900" algn="just">
              <a:lnSpc>
                <a:spcPct val="150000"/>
              </a:lnSpc>
              <a:buFont typeface="Wingdings" panose="05000000000000000000" pitchFamily="2" charset="2"/>
              <a:buChar char="Ø"/>
            </a:pPr>
            <a:r>
              <a:rPr lang="fr-FR" sz="2000" dirty="0"/>
              <a:t>Ajouter un système de notifications automatiques pour informer les parents de la validation ou du refus de leurs réservations.-</a:t>
            </a:r>
          </a:p>
          <a:p>
            <a:pPr marL="342900" indent="-342900" algn="just">
              <a:lnSpc>
                <a:spcPct val="150000"/>
              </a:lnSpc>
              <a:buFont typeface="Wingdings" panose="05000000000000000000" pitchFamily="2" charset="2"/>
              <a:buChar char="Ø"/>
            </a:pPr>
            <a:r>
              <a:rPr lang="fr-FR" sz="2000" dirty="0"/>
              <a:t> Améliorer la gestion des formateurs afin que chacun accède uniquement aux ateliers qui lui sont attribués.</a:t>
            </a:r>
          </a:p>
          <a:p>
            <a:pPr marL="342900" indent="-342900" algn="just">
              <a:lnSpc>
                <a:spcPct val="150000"/>
              </a:lnSpc>
              <a:buFont typeface="Wingdings" panose="05000000000000000000" pitchFamily="2" charset="2"/>
              <a:buChar char="Ø"/>
            </a:pPr>
            <a:r>
              <a:rPr lang="fr-FR" sz="2000" dirty="0"/>
              <a:t>Ajouter des tableaux de bord statistiques et des outils de suivi plus avancés.</a:t>
            </a:r>
          </a:p>
        </p:txBody>
      </p:sp>
    </p:spTree>
    <p:extLst>
      <p:ext uri="{BB962C8B-B14F-4D97-AF65-F5344CB8AC3E}">
        <p14:creationId xmlns:p14="http://schemas.microsoft.com/office/powerpoint/2010/main" val="122770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AD2E1F8-4DC5-EE56-1D28-3D1D2D1B8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28DA8F7-2E67-566D-3153-D71FF3CFE214}"/>
              </a:ext>
            </a:extLst>
          </p:cNvPr>
          <p:cNvSpPr>
            <a:spLocks noGrp="1"/>
          </p:cNvSpPr>
          <p:nvPr>
            <p:ph type="title"/>
          </p:nvPr>
        </p:nvSpPr>
        <p:spPr>
          <a:xfrm>
            <a:off x="673609" y="856526"/>
            <a:ext cx="11029616" cy="583671"/>
          </a:xfrm>
        </p:spPr>
        <p:txBody>
          <a:bodyPr/>
          <a:lstStyle/>
          <a:p>
            <a:pPr algn="ctr"/>
            <a:r>
              <a:rPr lang="fr-FR" dirty="0"/>
              <a:t>BILAN &amp; AMÉLIORATIONS POSSIBLES</a:t>
            </a:r>
          </a:p>
        </p:txBody>
      </p:sp>
      <p:sp>
        <p:nvSpPr>
          <p:cNvPr id="3" name="TextBox 2">
            <a:extLst>
              <a:ext uri="{FF2B5EF4-FFF2-40B4-BE49-F238E27FC236}">
                <a16:creationId xmlns:a16="http://schemas.microsoft.com/office/drawing/2014/main" xmlns="" id="{2F2B764A-C92D-B13C-86EB-F208605AF705}"/>
              </a:ext>
            </a:extLst>
          </p:cNvPr>
          <p:cNvSpPr txBox="1"/>
          <p:nvPr/>
        </p:nvSpPr>
        <p:spPr>
          <a:xfrm>
            <a:off x="422443" y="1649266"/>
            <a:ext cx="11280782" cy="5208734"/>
          </a:xfrm>
          <a:prstGeom prst="rect">
            <a:avLst/>
          </a:prstGeom>
          <a:noFill/>
        </p:spPr>
        <p:txBody>
          <a:bodyPr wrap="square" numCol="1" rtlCol="0">
            <a:spAutoFit/>
          </a:bodyPr>
          <a:lstStyle/>
          <a:p>
            <a:pPr algn="just">
              <a:lnSpc>
                <a:spcPct val="150000"/>
              </a:lnSpc>
            </a:pPr>
            <a:r>
              <a:rPr lang="fr-FR" sz="2400" b="1" dirty="0"/>
              <a:t>Compétences développées</a:t>
            </a:r>
          </a:p>
          <a:p>
            <a:pPr algn="just">
              <a:lnSpc>
                <a:spcPct val="150000"/>
              </a:lnSpc>
            </a:pPr>
            <a:r>
              <a:rPr lang="fr-FR" sz="2000" dirty="0"/>
              <a:t>La réalisation de ce projet m’a permis de développer plusieurs compétences techniques et méthodologiques :</a:t>
            </a:r>
          </a:p>
          <a:p>
            <a:pPr marL="342900" indent="-342900" algn="just">
              <a:lnSpc>
                <a:spcPct val="150000"/>
              </a:lnSpc>
              <a:buFont typeface="Wingdings" panose="05000000000000000000" pitchFamily="2" charset="2"/>
              <a:buChar char="Ø"/>
            </a:pPr>
            <a:r>
              <a:rPr lang="fr-FR" sz="2000" dirty="0"/>
              <a:t>Analyse des besoins et compréhension d’un cahier des charges.-</a:t>
            </a:r>
          </a:p>
          <a:p>
            <a:pPr marL="342900" indent="-342900" algn="just">
              <a:lnSpc>
                <a:spcPct val="150000"/>
              </a:lnSpc>
              <a:buFont typeface="Wingdings" panose="05000000000000000000" pitchFamily="2" charset="2"/>
              <a:buChar char="Ø"/>
            </a:pPr>
            <a:r>
              <a:rPr lang="fr-FR" sz="2000" dirty="0"/>
              <a:t> Conception et gestion d’une base de données relationnelle.</a:t>
            </a:r>
          </a:p>
          <a:p>
            <a:pPr marL="342900" indent="-342900" algn="just">
              <a:lnSpc>
                <a:spcPct val="150000"/>
              </a:lnSpc>
              <a:buFont typeface="Wingdings" panose="05000000000000000000" pitchFamily="2" charset="2"/>
              <a:buChar char="Ø"/>
            </a:pPr>
            <a:r>
              <a:rPr lang="fr-FR" sz="2000" dirty="0"/>
              <a:t> Mise en place de l’authentification et de la gestion des rôles.-</a:t>
            </a:r>
          </a:p>
          <a:p>
            <a:pPr marL="342900" indent="-342900" algn="just">
              <a:lnSpc>
                <a:spcPct val="150000"/>
              </a:lnSpc>
              <a:buFont typeface="Wingdings" panose="05000000000000000000" pitchFamily="2" charset="2"/>
              <a:buChar char="Ø"/>
            </a:pPr>
            <a:r>
              <a:rPr lang="fr-FR" sz="2000" dirty="0"/>
              <a:t> Génération automatique de documents PDF.- Intégration et configuration d’un service SMTP pour l’envoi des emails.-</a:t>
            </a:r>
          </a:p>
          <a:p>
            <a:pPr marL="342900" indent="-342900" algn="just">
              <a:lnSpc>
                <a:spcPct val="150000"/>
              </a:lnSpc>
              <a:buFont typeface="Wingdings" panose="05000000000000000000" pitchFamily="2" charset="2"/>
              <a:buChar char="Ø"/>
            </a:pPr>
            <a:r>
              <a:rPr lang="fr-FR" sz="2000" dirty="0"/>
              <a:t> Utilisation de Git et GitHub pour la gestion du code source.- </a:t>
            </a:r>
          </a:p>
          <a:p>
            <a:pPr marL="342900" indent="-342900" algn="just">
              <a:lnSpc>
                <a:spcPct val="150000"/>
              </a:lnSpc>
              <a:buFont typeface="Wingdings" panose="05000000000000000000" pitchFamily="2" charset="2"/>
              <a:buChar char="Ø"/>
            </a:pPr>
            <a:r>
              <a:rPr lang="fr-FR" sz="2000" dirty="0"/>
              <a:t>Travail collaboratif et résolution de problèmes techniques.- </a:t>
            </a:r>
          </a:p>
          <a:p>
            <a:pPr marL="342900" indent="-342900" algn="just">
              <a:lnSpc>
                <a:spcPct val="150000"/>
              </a:lnSpc>
              <a:buFont typeface="Wingdings" panose="05000000000000000000" pitchFamily="2" charset="2"/>
              <a:buChar char="Ø"/>
            </a:pPr>
            <a:r>
              <a:rPr lang="fr-FR" sz="2000" dirty="0"/>
              <a:t>Développement d’une application web suivant l’architecture MVC.</a:t>
            </a:r>
          </a:p>
        </p:txBody>
      </p:sp>
    </p:spTree>
    <p:extLst>
      <p:ext uri="{BB962C8B-B14F-4D97-AF65-F5344CB8AC3E}">
        <p14:creationId xmlns:p14="http://schemas.microsoft.com/office/powerpoint/2010/main" val="735457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EE8B74-7883-4647-0B47-9708F9811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B5EF65D-88F4-5AE9-0DFB-E624FE21908F}"/>
              </a:ext>
            </a:extLst>
          </p:cNvPr>
          <p:cNvSpPr>
            <a:spLocks noGrp="1"/>
          </p:cNvSpPr>
          <p:nvPr>
            <p:ph type="title"/>
          </p:nvPr>
        </p:nvSpPr>
        <p:spPr>
          <a:xfrm>
            <a:off x="673609" y="856526"/>
            <a:ext cx="11029616" cy="583671"/>
          </a:xfrm>
        </p:spPr>
        <p:txBody>
          <a:bodyPr/>
          <a:lstStyle/>
          <a:p>
            <a:pPr algn="ctr"/>
            <a:r>
              <a:rPr lang="fr-FR" dirty="0"/>
              <a:t>Conclusion</a:t>
            </a:r>
          </a:p>
        </p:txBody>
      </p:sp>
      <p:sp>
        <p:nvSpPr>
          <p:cNvPr id="3" name="TextBox 2">
            <a:extLst>
              <a:ext uri="{FF2B5EF4-FFF2-40B4-BE49-F238E27FC236}">
                <a16:creationId xmlns:a16="http://schemas.microsoft.com/office/drawing/2014/main" xmlns="" id="{07867CDC-4B39-158B-8C10-0F12846C1A90}"/>
              </a:ext>
            </a:extLst>
          </p:cNvPr>
          <p:cNvSpPr txBox="1"/>
          <p:nvPr/>
        </p:nvSpPr>
        <p:spPr>
          <a:xfrm>
            <a:off x="690050" y="3211102"/>
            <a:ext cx="11182364" cy="2831544"/>
          </a:xfrm>
          <a:prstGeom prst="rect">
            <a:avLst/>
          </a:prstGeom>
          <a:noFill/>
        </p:spPr>
        <p:txBody>
          <a:bodyPr wrap="square" numCol="2" rtlCol="0">
            <a:spAutoFit/>
          </a:bodyPr>
          <a:lstStyle/>
          <a:p>
            <a:pPr marL="457200" indent="-457200">
              <a:buFont typeface="Wingdings" panose="05000000000000000000" pitchFamily="2" charset="2"/>
              <a:buChar char="q"/>
            </a:pPr>
            <a:r>
              <a:rPr lang="fr-FR" sz="2800" b="1" dirty="0"/>
              <a:t>Intérêt du projet</a:t>
            </a:r>
          </a:p>
          <a:p>
            <a:pPr marL="342900" indent="-342900">
              <a:lnSpc>
                <a:spcPct val="150000"/>
              </a:lnSpc>
              <a:buFont typeface="Wingdings" panose="05000000000000000000" pitchFamily="2" charset="2"/>
              <a:buChar char="Ø"/>
            </a:pPr>
            <a:r>
              <a:rPr lang="fr-FR" sz="2000" dirty="0"/>
              <a:t>Simplifier la gestion des inscriptions et réservations </a:t>
            </a:r>
          </a:p>
          <a:p>
            <a:pPr marL="342900" indent="-342900">
              <a:lnSpc>
                <a:spcPct val="150000"/>
              </a:lnSpc>
              <a:buFont typeface="Wingdings" panose="05000000000000000000" pitchFamily="2" charset="2"/>
              <a:buChar char="Ø"/>
            </a:pPr>
            <a:r>
              <a:rPr lang="fr-FR" sz="2000" dirty="0"/>
              <a:t>Centraliser les informations des parents et des enfants </a:t>
            </a:r>
          </a:p>
          <a:p>
            <a:pPr marL="342900" indent="-342900">
              <a:lnSpc>
                <a:spcPct val="150000"/>
              </a:lnSpc>
              <a:buFont typeface="Wingdings" panose="05000000000000000000" pitchFamily="2" charset="2"/>
              <a:buChar char="Ø"/>
            </a:pPr>
            <a:r>
              <a:rPr lang="fr-FR" sz="2000" dirty="0"/>
              <a:t>Améliorer le suivi pédagogique </a:t>
            </a:r>
          </a:p>
          <a:p>
            <a:pPr marL="342900" indent="-342900">
              <a:lnSpc>
                <a:spcPct val="150000"/>
              </a:lnSpc>
              <a:buFont typeface="Wingdings" panose="05000000000000000000" pitchFamily="2" charset="2"/>
              <a:buChar char="Ø"/>
            </a:pPr>
            <a:r>
              <a:rPr lang="fr-FR" sz="2000" dirty="0"/>
              <a:t>Faciliter le travail </a:t>
            </a:r>
            <a:r>
              <a:rPr lang="fr-FR" sz="2000" dirty="0" smtClean="0"/>
              <a:t>administratif</a:t>
            </a:r>
          </a:p>
          <a:p>
            <a:pPr marL="457200" indent="-457200">
              <a:lnSpc>
                <a:spcPct val="150000"/>
              </a:lnSpc>
              <a:buFont typeface="Wingdings" panose="05000000000000000000" pitchFamily="2" charset="2"/>
              <a:buChar char="q"/>
            </a:pPr>
            <a:r>
              <a:rPr lang="fr-FR" sz="2800" b="1" dirty="0" smtClean="0"/>
              <a:t>Remerciements</a:t>
            </a:r>
            <a:endParaRPr lang="fr-FR" sz="2000" b="1" dirty="0" smtClean="0"/>
          </a:p>
          <a:p>
            <a:pPr marL="457200" indent="-457200">
              <a:lnSpc>
                <a:spcPct val="150000"/>
              </a:lnSpc>
              <a:buFont typeface="Wingdings" panose="05000000000000000000" pitchFamily="2" charset="2"/>
              <a:buChar char="Ø"/>
            </a:pPr>
            <a:r>
              <a:rPr lang="fr-FR" sz="2000" dirty="0" smtClean="0"/>
              <a:t>Merci Mme </a:t>
            </a:r>
            <a:r>
              <a:rPr lang="fr-FR" sz="2000" dirty="0" err="1" smtClean="0"/>
              <a:t>Asmae</a:t>
            </a:r>
            <a:r>
              <a:rPr lang="fr-FR" sz="2000" dirty="0" smtClean="0"/>
              <a:t>  </a:t>
            </a:r>
            <a:r>
              <a:rPr lang="fr-FR" sz="2000" dirty="0" err="1" smtClean="0"/>
              <a:t>Youala</a:t>
            </a:r>
            <a:r>
              <a:rPr lang="fr-FR" sz="2000" dirty="0" smtClean="0"/>
              <a:t> pour votre son accompagne</a:t>
            </a:r>
          </a:p>
          <a:p>
            <a:pPr marL="457200" indent="-457200">
              <a:lnSpc>
                <a:spcPct val="150000"/>
              </a:lnSpc>
              <a:buFont typeface="Wingdings" panose="05000000000000000000" pitchFamily="2" charset="2"/>
              <a:buChar char="Ø"/>
            </a:pPr>
            <a:r>
              <a:rPr lang="fr-FR" sz="2000" dirty="0" smtClean="0"/>
              <a:t>Merci a tous pour votre attention </a:t>
            </a:r>
            <a:endParaRPr lang="fr-FR" sz="2000" dirty="0"/>
          </a:p>
        </p:txBody>
      </p:sp>
    </p:spTree>
    <p:extLst>
      <p:ext uri="{BB962C8B-B14F-4D97-AF65-F5344CB8AC3E}">
        <p14:creationId xmlns:p14="http://schemas.microsoft.com/office/powerpoint/2010/main" val="4009917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xmlns="" id="{A9CB511D-EA45-4336-847C-1252667143B5}"/>
              </a:ext>
            </a:extLst>
          </p:cNvPr>
          <p:cNvSpPr>
            <a:spLocks noGrp="1"/>
          </p:cNvSpPr>
          <p:nvPr>
            <p:ph type="subTitle" idx="4294967295"/>
          </p:nvPr>
        </p:nvSpPr>
        <p:spPr>
          <a:xfrm>
            <a:off x="158663" y="3269293"/>
            <a:ext cx="11874674" cy="2468718"/>
          </a:xfrm>
        </p:spPr>
        <p:txBody>
          <a:bodyPr rtlCol="0">
            <a:normAutofit/>
          </a:bodyPr>
          <a:lstStyle/>
          <a:p>
            <a:pPr marL="0" indent="0" rtl="0">
              <a:buNone/>
            </a:pPr>
            <a:endParaRPr lang="fr-FR" dirty="0">
              <a:solidFill>
                <a:schemeClr val="bg2"/>
              </a:solidFill>
            </a:endParaRPr>
          </a:p>
          <a:p>
            <a:pPr rtl="0"/>
            <a:endParaRPr lang="fr-FR" dirty="0">
              <a:solidFill>
                <a:schemeClr val="bg2"/>
              </a:solidFill>
            </a:endParaRPr>
          </a:p>
          <a:p>
            <a:pPr rtl="0"/>
            <a:endParaRPr lang="fr-FR" dirty="0">
              <a:solidFill>
                <a:schemeClr val="bg2"/>
              </a:solidFill>
            </a:endParaRPr>
          </a:p>
        </p:txBody>
      </p:sp>
      <p:sp>
        <p:nvSpPr>
          <p:cNvPr id="7" name="TextBox 6">
            <a:extLst>
              <a:ext uri="{FF2B5EF4-FFF2-40B4-BE49-F238E27FC236}">
                <a16:creationId xmlns:a16="http://schemas.microsoft.com/office/drawing/2014/main" xmlns="" id="{954E81D4-D5D4-0DD5-A785-C853DF72C639}"/>
              </a:ext>
            </a:extLst>
          </p:cNvPr>
          <p:cNvSpPr txBox="1"/>
          <p:nvPr/>
        </p:nvSpPr>
        <p:spPr>
          <a:xfrm>
            <a:off x="2801654" y="2767280"/>
            <a:ext cx="6588691" cy="1323439"/>
          </a:xfrm>
          <a:prstGeom prst="rect">
            <a:avLst/>
          </a:prstGeom>
          <a:noFill/>
        </p:spPr>
        <p:txBody>
          <a:bodyPr wrap="square" rtlCol="0">
            <a:spAutoFit/>
          </a:bodyPr>
          <a:lstStyle/>
          <a:p>
            <a:pPr algn="ctr"/>
            <a:r>
              <a:rPr lang="en-US" sz="4000" b="1" dirty="0">
                <a:solidFill>
                  <a:schemeClr val="bg2"/>
                </a:solidFill>
                <a:effectLst>
                  <a:outerShdw blurRad="38100" dist="38100" dir="2700000" algn="tl">
                    <a:srgbClr val="000000">
                      <a:alpha val="43137"/>
                    </a:srgbClr>
                  </a:outerShdw>
                </a:effectLst>
              </a:rPr>
              <a:t>Merci pour  </a:t>
            </a:r>
            <a:r>
              <a:rPr lang="en-US" sz="4000" b="1" dirty="0" err="1">
                <a:solidFill>
                  <a:schemeClr val="bg2"/>
                </a:solidFill>
                <a:effectLst>
                  <a:outerShdw blurRad="38100" dist="38100" dir="2700000" algn="tl">
                    <a:srgbClr val="000000">
                      <a:alpha val="43137"/>
                    </a:srgbClr>
                  </a:outerShdw>
                </a:effectLst>
              </a:rPr>
              <a:t>Votre</a:t>
            </a:r>
            <a:r>
              <a:rPr lang="en-US" sz="4000" b="1" dirty="0">
                <a:solidFill>
                  <a:schemeClr val="bg2"/>
                </a:solidFill>
                <a:effectLst>
                  <a:outerShdw blurRad="38100" dist="38100" dir="2700000" algn="tl">
                    <a:srgbClr val="000000">
                      <a:alpha val="43137"/>
                    </a:srgbClr>
                  </a:outerShdw>
                </a:effectLst>
              </a:rPr>
              <a:t> Attention</a:t>
            </a:r>
            <a:endParaRPr lang="fr-FR" sz="4000" b="1"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0134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heel(1)">
                                      <p:cBhvr>
                                        <p:cTn id="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ersonnalisé">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8800_TF56390039_Win32" id="{FCB14B3E-2B92-48B8-A334-05E7A8EE34E1}" vid="{B6EC9E21-8C82-4EB1-BBE7-A370F785D0C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1742</TotalTime>
  <Words>1403</Words>
  <Application>Microsoft Office PowerPoint</Application>
  <PresentationFormat>Grand écran</PresentationFormat>
  <Paragraphs>149</Paragraphs>
  <Slides>20</Slides>
  <Notes>10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Arial</vt:lpstr>
      <vt:lpstr>Calibri</vt:lpstr>
      <vt:lpstr>Gill Sans MT</vt:lpstr>
      <vt:lpstr>Wingdings</vt:lpstr>
      <vt:lpstr>Wingdings 2</vt:lpstr>
      <vt:lpstr>Personnalisé</vt:lpstr>
      <vt:lpstr>Présentation PowerPoint</vt:lpstr>
      <vt:lpstr>SOMMAIRE</vt:lpstr>
      <vt:lpstr>introduction</vt:lpstr>
      <vt:lpstr>introduction</vt:lpstr>
      <vt:lpstr>introduction</vt:lpstr>
      <vt:lpstr>Problématique</vt:lpstr>
      <vt:lpstr>FONCTIONNALITÉS PRINCIPALES</vt:lpstr>
      <vt:lpstr>FONCTIONNALITÉS PRINCIPALES</vt:lpstr>
      <vt:lpstr>FONCTIONNALITÉS PRINCIPALES</vt:lpstr>
      <vt:lpstr>CONCEPTION (CAS D'UTILISATION)</vt:lpstr>
      <vt:lpstr>CONCEPTION (diagramme De classe)</vt:lpstr>
      <vt:lpstr>CHOIX TECHNIQUES</vt:lpstr>
      <vt:lpstr>RÉALISATION – DÉMONSTRATION</vt:lpstr>
      <vt:lpstr>RÉALISATION – DÉMONSTRATION</vt:lpstr>
      <vt:lpstr>DIFFICULTÉS RENCONTRÉES</vt:lpstr>
      <vt:lpstr>BILAN &amp; AMÉLIORATIONS POSSIBLES</vt:lpstr>
      <vt:lpstr>BILAN &amp; AMÉLIORATIONS POSSIBLES</vt:lpstr>
      <vt:lpstr>BILAN &amp; AMÉLIORATIONS POSSIBLES</vt:lpstr>
      <vt:lpstr>Conclusion</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Sarah Tai</dc:creator>
  <cp:lastModifiedBy>Compte Microsoft</cp:lastModifiedBy>
  <cp:revision>14</cp:revision>
  <cp:lastPrinted>2026-06-07T23:23:32Z</cp:lastPrinted>
  <dcterms:created xsi:type="dcterms:W3CDTF">2026-06-06T00:30:46Z</dcterms:created>
  <dcterms:modified xsi:type="dcterms:W3CDTF">2026-06-08T12:17:28Z</dcterms:modified>
</cp:coreProperties>
</file>