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22"/>
  </p:notesMasterIdLst>
  <p:handoutMasterIdLst>
    <p:handoutMasterId r:id="rId23"/>
  </p:handoutMasterIdLst>
  <p:sldIdLst>
    <p:sldId id="256" r:id="rId2"/>
    <p:sldId id="267" r:id="rId3"/>
    <p:sldId id="261" r:id="rId4"/>
    <p:sldId id="268" r:id="rId5"/>
    <p:sldId id="269" r:id="rId6"/>
    <p:sldId id="258" r:id="rId7"/>
    <p:sldId id="270" r:id="rId8"/>
    <p:sldId id="271" r:id="rId9"/>
    <p:sldId id="272" r:id="rId10"/>
    <p:sldId id="262" r:id="rId11"/>
    <p:sldId id="266" r:id="rId12"/>
    <p:sldId id="263" r:id="rId13"/>
    <p:sldId id="273" r:id="rId14"/>
    <p:sldId id="274" r:id="rId15"/>
    <p:sldId id="277" r:id="rId16"/>
    <p:sldId id="264" r:id="rId17"/>
    <p:sldId id="275" r:id="rId18"/>
    <p:sldId id="276" r:id="rId19"/>
    <p:sldId id="265" r:id="rId20"/>
    <p:sldId id="260" r:id="rId21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E93C11-C30E-42E1-BD72-C21ADCAC19A5}">
          <p14:sldIdLst>
            <p14:sldId id="256"/>
            <p14:sldId id="267"/>
            <p14:sldId id="261"/>
            <p14:sldId id="268"/>
            <p14:sldId id="269"/>
            <p14:sldId id="258"/>
            <p14:sldId id="270"/>
            <p14:sldId id="271"/>
            <p14:sldId id="272"/>
            <p14:sldId id="262"/>
            <p14:sldId id="266"/>
          </p14:sldIdLst>
        </p14:section>
        <p14:section name="Untitled Section" id="{B068D8F1-93FE-4E4B-B481-196840032C90}">
          <p14:sldIdLst>
            <p14:sldId id="263"/>
            <p14:sldId id="273"/>
            <p14:sldId id="274"/>
            <p14:sldId id="277"/>
            <p14:sldId id="264"/>
            <p14:sldId id="275"/>
            <p14:sldId id="276"/>
            <p14:sldId id="265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40" d="100"/>
          <a:sy n="40" d="100"/>
        </p:scale>
        <p:origin x="20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xmlns="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xmlns="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11/06/2026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xmlns="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xmlns="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4CC78BA-3DF6-7810-ECDE-B5DEFB55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xmlns="" id="{3121ECD8-5513-E1E0-474B-2E85F1423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xmlns="" id="{6CE6246D-8F2C-46C9-E1FB-7C1A1DA24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86521A49-A105-6B07-5FDB-1B8D0AF7F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65294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27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89677C-C827-0FBB-B012-1B4F70ED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xmlns="" id="{7BD288D5-4D4B-7BA3-CD9D-84CB04599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xmlns="" id="{3EEE6C25-F9F3-A801-5516-B517BD0F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22892D29-211A-529E-4970-7875A5281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304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180461E-70FC-740B-13EF-16BFAF251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xmlns="" id="{D6929024-0562-5CCC-5A9C-F2FE6B3F6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xmlns="" id="{A337DF44-FC1A-9F2F-2F35-68C13B046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131D1F32-0DE5-66BB-8F69-753FB477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76124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636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415987D-B66D-5A24-843F-E7A2E172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5597F4DB-39AE-A7D5-166D-ABFE69E93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7C878E3A-C010-AD2E-DAD6-A06F8A72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E0A6F5C0-1FBE-3897-3882-CF419910A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3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AA3DC1-C080-EE0F-0C54-DE3222EF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0883E234-FCEB-1804-BC4C-A20DE42A6C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83AF92C9-FA70-D0A1-7E38-BDEC107199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188475F8-0CAD-1F9F-834B-6DF4D1FBC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87171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B1C99F-3EC0-8AF1-9029-9D9B24415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D08822DB-B7F6-AEE2-F3BC-8EB27C670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4F936B6D-4FB8-402E-1348-A7F2A07A1A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B383E8B2-1083-16CE-4774-7B83AA41EC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44970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en-US" noProof="0"/>
              <a:t>Click to edit Master title style</a:t>
            </a:r>
            <a:endParaRPr lang="fr-FR" noProof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xmlns="" id="{493D4EDA-58E0-40CC-B3CA-14CDEB349D2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xmlns="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-12506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xmlns="" id="{AA9EB0BC-A85E-4C26-B355-5DFCEF6CCB4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xmlns="" id="{3643E56B-BD42-413D-B17D-7958270F5DE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xmlns="" id="{96C04F74-9467-4FA5-95DC-8D481A29740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xmlns="" id="{D73DE1C3-5C37-42E9-A3F0-256F1938327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4A2E7EC3-E07C-46CE-9B25-41865A5068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4653022"/>
            <a:ext cx="10924041" cy="1620455"/>
          </a:xfrm>
        </p:spPr>
        <p:txBody>
          <a:bodyPr numCol="2" rtlCol="0">
            <a:noAutofit/>
          </a:bodyPr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Réalisé par :</a:t>
            </a:r>
            <a:endParaRPr lang="fr-FR" sz="1400" dirty="0">
              <a:solidFill>
                <a:schemeClr val="bg1"/>
              </a:solidFill>
            </a:endParaRPr>
          </a:p>
          <a:p>
            <a:pPr algn="ctr"/>
            <a:r>
              <a:rPr lang="fr-FR" sz="1400" dirty="0">
                <a:solidFill>
                  <a:schemeClr val="bg1"/>
                </a:solidFill>
              </a:rPr>
              <a:t>Sara Tai </a:t>
            </a:r>
          </a:p>
          <a:p>
            <a:pPr algn="ctr"/>
            <a:r>
              <a:rPr lang="fr-FR" sz="1400" dirty="0" err="1">
                <a:solidFill>
                  <a:schemeClr val="bg1"/>
                </a:solidFill>
              </a:rPr>
              <a:t>Ghizlane</a:t>
            </a:r>
            <a:r>
              <a:rPr lang="fr-FR" sz="1400" dirty="0">
                <a:solidFill>
                  <a:schemeClr val="bg1"/>
                </a:solidFill>
              </a:rPr>
              <a:t> El Khyat </a:t>
            </a:r>
          </a:p>
          <a:p>
            <a:pPr algn="ctr"/>
            <a:r>
              <a:rPr lang="fr-FR" sz="1400" b="1" dirty="0">
                <a:solidFill>
                  <a:schemeClr val="bg1"/>
                </a:solidFill>
              </a:rPr>
              <a:t>Encadrante :</a:t>
            </a:r>
            <a:endParaRPr lang="fr-FR" sz="1400" dirty="0">
              <a:solidFill>
                <a:schemeClr val="bg1"/>
              </a:solidFill>
            </a:endParaRPr>
          </a:p>
          <a:p>
            <a:pPr algn="ctr"/>
            <a:r>
              <a:rPr lang="fr-FR" sz="1400" dirty="0">
                <a:solidFill>
                  <a:schemeClr val="bg1"/>
                </a:solidFill>
              </a:rPr>
              <a:t>Asmae </a:t>
            </a:r>
            <a:r>
              <a:rPr lang="fr-FR" sz="1400" dirty="0" err="1">
                <a:solidFill>
                  <a:schemeClr val="bg1"/>
                </a:solidFill>
              </a:rPr>
              <a:t>Youala</a:t>
            </a:r>
            <a:r>
              <a:rPr lang="fr-FR" sz="1400" dirty="0">
                <a:solidFill>
                  <a:schemeClr val="bg1"/>
                </a:solidFill>
              </a:rPr>
              <a:t> </a:t>
            </a:r>
          </a:p>
          <a:p>
            <a:r>
              <a:rPr lang="fr-FR" sz="1400" b="1" dirty="0">
                <a:solidFill>
                  <a:schemeClr val="bg1"/>
                </a:solidFill>
              </a:rPr>
              <a:t>Établissement :</a:t>
            </a:r>
          </a:p>
          <a:p>
            <a:r>
              <a:rPr lang="fr-FR" sz="1400" dirty="0">
                <a:solidFill>
                  <a:schemeClr val="bg1"/>
                </a:solidFill>
              </a:rPr>
              <a:t>Institut Spécialisé de Technologie Appliquée </a:t>
            </a:r>
            <a:r>
              <a:rPr lang="fr-FR" sz="1400" dirty="0" err="1">
                <a:solidFill>
                  <a:schemeClr val="bg1"/>
                </a:solidFill>
              </a:rPr>
              <a:t>Adarissa</a:t>
            </a:r>
            <a:r>
              <a:rPr lang="fr-FR" sz="1400" dirty="0">
                <a:solidFill>
                  <a:schemeClr val="bg1"/>
                </a:solidFill>
              </a:rPr>
              <a:t> (ISTA </a:t>
            </a:r>
            <a:r>
              <a:rPr lang="fr-FR" sz="1400" dirty="0" err="1">
                <a:solidFill>
                  <a:schemeClr val="bg1"/>
                </a:solidFill>
              </a:rPr>
              <a:t>Adarissa</a:t>
            </a:r>
            <a:r>
              <a:rPr lang="fr-FR" sz="1400" dirty="0">
                <a:solidFill>
                  <a:schemeClr val="bg1"/>
                </a:solidFill>
              </a:rPr>
              <a:t>) </a:t>
            </a:r>
          </a:p>
          <a:p>
            <a:r>
              <a:rPr lang="fr-FR" sz="1400" b="1" dirty="0">
                <a:solidFill>
                  <a:schemeClr val="bg1"/>
                </a:solidFill>
              </a:rPr>
              <a:t>Année de formation :</a:t>
            </a:r>
          </a:p>
          <a:p>
            <a:r>
              <a:rPr lang="fr-FR" sz="1400" dirty="0">
                <a:solidFill>
                  <a:schemeClr val="bg1"/>
                </a:solidFill>
              </a:rPr>
              <a:t>2025 – 2026</a:t>
            </a:r>
          </a:p>
          <a:p>
            <a:pPr algn="ctr" rtl="0"/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9D04166F-860D-6590-C539-0655F1F59343}"/>
              </a:ext>
            </a:extLst>
          </p:cNvPr>
          <p:cNvSpPr/>
          <p:nvPr/>
        </p:nvSpPr>
        <p:spPr>
          <a:xfrm>
            <a:off x="446535" y="1005829"/>
            <a:ext cx="11262864" cy="22582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000" b="1" dirty="0"/>
              <a:t>Système de Réservation des Ateliers et Génération de Rapports Parents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95A999-CB06-DCB3-8CC8-4D6D4FF43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xmlns="" id="{4252215B-BC51-BFD5-4153-47AEE716D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4" y="767042"/>
            <a:ext cx="11029783" cy="717419"/>
          </a:xfrm>
        </p:spPr>
        <p:txBody>
          <a:bodyPr>
            <a:normAutofit/>
          </a:bodyPr>
          <a:lstStyle/>
          <a:p>
            <a:pPr algn="ctr"/>
            <a:r>
              <a:rPr lang="fr-FR" sz="3200" b="1" dirty="0"/>
              <a:t>SOMMAIRE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xmlns="" id="{7C565607-2361-9BA3-36DF-2B76A0D76B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0089" y="1971450"/>
            <a:ext cx="10229562" cy="4651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fr-FR" altLang="fr-FR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Introduction et objectifs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Problématique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Fonctionnalités principales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Conception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Choix techniques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Démonstration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Difficultés rencontrées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Bilan et perspectives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2720457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xmlns="" id="{52A51A27-B2A7-5BDE-36C5-1ED87A125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4" y="767042"/>
            <a:ext cx="11029783" cy="717419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/>
              <a:t>i</a:t>
            </a:r>
            <a:r>
              <a:rPr lang="fr-FR" sz="3200" b="1" dirty="0" err="1"/>
              <a:t>ntroduction</a:t>
            </a:r>
            <a:endParaRPr lang="fr-FR" sz="3200" b="1" dirty="0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xmlns="" id="{FF09D305-ECF0-EF5A-3FB2-F5D56CAFEE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0089" y="2173781"/>
            <a:ext cx="10229562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Dans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le cadre de notre projet de formation, nous avons développé une application web destinée à Elite </a:t>
            </a:r>
            <a:r>
              <a:rPr lang="fr-FR" altLang="fr-FR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Coders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Academy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 afin de </a:t>
            </a:r>
            <a:r>
              <a:rPr lang="fr-FR" altLang="fr-FR" sz="2000" b="1" dirty="0">
                <a:solidFill>
                  <a:schemeClr val="tx1"/>
                </a:solidFill>
                <a:latin typeface="Arial" panose="020B0604020202020204" pitchFamily="34" charset="0"/>
              </a:rPr>
              <a:t>faciliter la gestion des ateliers et le suivi pédagogique des </a:t>
            </a:r>
            <a:r>
              <a:rPr lang="fr-FR" altLang="fr-FR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élèves</a:t>
            </a:r>
            <a:r>
              <a:rPr lang="fr-FR" altLang="fr-FR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.L’idée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 initiale a été proposée par l’académie, mais nous avons étudié plusieurs solutions avant de concevoir une plateforme centralisée répondant aux besoins réels de l’administration, des formateurs et des parents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 L’application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permet aux </a:t>
            </a:r>
            <a:r>
              <a:rPr lang="fr-FR" altLang="fr-FR" sz="2000" b="1" dirty="0">
                <a:solidFill>
                  <a:schemeClr val="tx1"/>
                </a:solidFill>
                <a:latin typeface="Arial" panose="020B0604020202020204" pitchFamily="34" charset="0"/>
              </a:rPr>
              <a:t>parents de réserver des ateliers en ligne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, aux </a:t>
            </a:r>
            <a:r>
              <a:rPr lang="fr-FR" altLang="fr-FR" sz="2000" b="1" dirty="0">
                <a:solidFill>
                  <a:schemeClr val="tx1"/>
                </a:solidFill>
                <a:latin typeface="Arial" panose="020B0604020202020204" pitchFamily="34" charset="0"/>
              </a:rPr>
              <a:t>administrateurs de gérer les demandes de réservation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 et aux </a:t>
            </a:r>
            <a:r>
              <a:rPr lang="fr-FR" altLang="fr-FR" sz="2000" b="1" dirty="0">
                <a:solidFill>
                  <a:schemeClr val="tx1"/>
                </a:solidFill>
                <a:latin typeface="Arial" panose="020B0604020202020204" pitchFamily="34" charset="0"/>
              </a:rPr>
              <a:t>formateurs de générer des rapports pédagogiques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au format PDF qui peuvent être envoyés automatiquement aux parents par courrier électronique.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B37A1F-696A-8256-D05C-DD28775F9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xmlns="" id="{E3CCABE1-6BC7-DB7C-676B-F59209FA3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4" y="767042"/>
            <a:ext cx="11029783" cy="717419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/>
              <a:t>i</a:t>
            </a:r>
            <a:r>
              <a:rPr lang="fr-FR" sz="3200" b="1" dirty="0" err="1"/>
              <a:t>ntroduction</a:t>
            </a:r>
            <a:endParaRPr lang="fr-FR" sz="3200" b="1" dirty="0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xmlns="" id="{24649D2E-EE0F-9ABC-0825-0C20987729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0089" y="2635447"/>
            <a:ext cx="10229562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fr-FR" altLang="fr-FR" sz="2000" b="1" dirty="0">
                <a:solidFill>
                  <a:schemeClr val="tx1"/>
                </a:solidFill>
                <a:latin typeface="Arial" panose="020B0604020202020204" pitchFamily="34" charset="0"/>
              </a:rPr>
              <a:t>Pourquoi ce projet </a:t>
            </a:r>
            <a:r>
              <a:rPr lang="fr-FR" altLang="fr-FR" sz="2000" b="1" dirty="0" smtClean="0">
                <a:solidFill>
                  <a:schemeClr val="tx1"/>
                </a:solidFill>
                <a:latin typeface="Arial" panose="020B0604020202020204" pitchFamily="34" charset="0"/>
              </a:rPr>
              <a:t>?</a:t>
            </a: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2000" b="1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Répondre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à un besoin réel exprimé par Elite </a:t>
            </a:r>
            <a:r>
              <a:rPr lang="fr-FR" altLang="fr-FR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Coders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Academy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Participer à la digitalisation des processus de l’académie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Mettre en pratique les compétences acquises durant la 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formation.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Concevoir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une solution utile pour les administrateurs, les formateurs et les parents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Développer une application répondant à un contexte professionnel concret.</a:t>
            </a:r>
            <a:endParaRPr lang="fr-FR" altLang="fr-FR" sz="2000" dirty="0" smtClean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48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18637E-E576-4ACF-CF8E-9D3517F65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xmlns="" id="{AA2CB497-EC76-1CCF-B99E-9C99814C4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4" y="767042"/>
            <a:ext cx="11029783" cy="717419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/>
              <a:t>i</a:t>
            </a:r>
            <a:r>
              <a:rPr lang="fr-FR" sz="3200" b="1" dirty="0" err="1"/>
              <a:t>ntroduction</a:t>
            </a:r>
            <a:endParaRPr lang="fr-FR" sz="3200" b="1" dirty="0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xmlns="" id="{1A067DD9-43C1-C23F-A86E-3D13FDA0B9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7636" y="2141226"/>
            <a:ext cx="11236728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fr-FR" altLang="fr-FR" sz="2000" b="1" dirty="0">
                <a:solidFill>
                  <a:schemeClr val="tx1"/>
                </a:solidFill>
                <a:latin typeface="Arial" panose="020B0604020202020204" pitchFamily="34" charset="0"/>
              </a:rPr>
              <a:t>Objectifs </a:t>
            </a:r>
            <a:r>
              <a:rPr lang="fr-FR" altLang="fr-FR" sz="2000" b="1" dirty="0" smtClean="0">
                <a:solidFill>
                  <a:schemeClr val="tx1"/>
                </a:solidFill>
                <a:latin typeface="Arial" panose="020B0604020202020204" pitchFamily="34" charset="0"/>
              </a:rPr>
              <a:t>visés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2000" b="1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Moderniser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la gestion des ateliers au sein de l’académie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Améliorer l’organisation administrative et 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pédagogique.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Réduire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les erreurs liées aux traitements manuels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Optimiser le temps de gestion des 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réservations.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Faciliter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la communication entre l’académie et les parents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Assurer un meilleur suivi des élèves</a:t>
            </a: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fr-FR" altLang="fr-FR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fr-FR" altLang="fr-FR" sz="2000" dirty="0">
                <a:solidFill>
                  <a:schemeClr val="tx1"/>
                </a:solidFill>
                <a:latin typeface="Arial" panose="020B0604020202020204" pitchFamily="34" charset="0"/>
              </a:rPr>
              <a:t>Mettre en place une solution fiable et centralisée.</a:t>
            </a:r>
            <a:endParaRPr lang="fr-FR" altLang="fr-FR" sz="20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363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804396"/>
            <a:ext cx="11016045" cy="716823"/>
          </a:xfrm>
        </p:spPr>
        <p:txBody>
          <a:bodyPr rtlCol="0">
            <a:normAutofit/>
          </a:bodyPr>
          <a:lstStyle/>
          <a:p>
            <a:pPr algn="ctr"/>
            <a:r>
              <a:rPr lang="fr-FR" sz="3200" b="1" dirty="0"/>
              <a:t>Problématique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FBCB925-1367-34CC-CEE0-59FED82CD1C3}"/>
              </a:ext>
            </a:extLst>
          </p:cNvPr>
          <p:cNvSpPr txBox="1"/>
          <p:nvPr/>
        </p:nvSpPr>
        <p:spPr>
          <a:xfrm>
            <a:off x="581193" y="2889604"/>
            <a:ext cx="11155471" cy="2816156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/>
              <a:t>Avant le projet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Gestion manuelle des inscriptions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Difficulté de suivre les réservations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Informations dispersées dans plusieurs supports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Suivi pédagogique peu efficace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Risque d'erreurs et perte de temps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/>
              <a:t>Solution proposée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Centralisation des données dans une seule plateforme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Gestion simplifiée des réservations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Suivi des enfants et des parents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dirty="0"/>
              <a:t>Génération automatique des rapports PDF</a:t>
            </a:r>
          </a:p>
          <a:p>
            <a:pPr>
              <a:lnSpc>
                <a:spcPct val="150000"/>
              </a:lnSpc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F617F1-D2C3-5394-0452-D94F5AD61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F0B5D95E-63E7-3950-7662-2C582A27E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804396"/>
            <a:ext cx="11016045" cy="716823"/>
          </a:xfrm>
        </p:spPr>
        <p:txBody>
          <a:bodyPr rtlCol="0">
            <a:normAutofit/>
          </a:bodyPr>
          <a:lstStyle/>
          <a:p>
            <a:pPr algn="ctr"/>
            <a:r>
              <a:rPr lang="fr-FR" sz="3200" b="1" dirty="0"/>
              <a:t>FONCTIONNALITÉS PRINCIPALES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13010811-F3F6-3F93-7B6A-EECA7897EAD0}"/>
              </a:ext>
            </a:extLst>
          </p:cNvPr>
          <p:cNvSpPr txBox="1"/>
          <p:nvPr/>
        </p:nvSpPr>
        <p:spPr>
          <a:xfrm>
            <a:off x="511479" y="2172172"/>
            <a:ext cx="11155471" cy="4431983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fr-FR" sz="2400" b="1" dirty="0"/>
              <a:t>Gestion des ateliers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• Création des ateliers</a:t>
            </a:r>
            <a:br>
              <a:rPr lang="fr-FR" sz="2000" dirty="0"/>
            </a:br>
            <a:r>
              <a:rPr lang="fr-FR" sz="2000" dirty="0"/>
              <a:t>• Modification des ateliers</a:t>
            </a:r>
            <a:br>
              <a:rPr lang="fr-FR" sz="2000" dirty="0"/>
            </a:br>
            <a:r>
              <a:rPr lang="fr-FR" sz="2000" dirty="0"/>
              <a:t>• Suppression des ateliers</a:t>
            </a:r>
            <a:br>
              <a:rPr lang="fr-FR" sz="2000" dirty="0"/>
            </a:br>
            <a:endParaRPr lang="fr-FR" sz="2000" dirty="0" smtClean="0"/>
          </a:p>
          <a:p>
            <a:pPr>
              <a:lnSpc>
                <a:spcPct val="150000"/>
              </a:lnSpc>
            </a:pPr>
            <a:r>
              <a:rPr lang="fr-FR" sz="2400" dirty="0" smtClean="0"/>
              <a:t>2</a:t>
            </a:r>
            <a:r>
              <a:rPr lang="fr-FR" sz="2400" dirty="0"/>
              <a:t>. </a:t>
            </a:r>
            <a:r>
              <a:rPr lang="fr-FR" sz="2400" b="1" dirty="0"/>
              <a:t>Réservation en ligne des ateliers</a:t>
            </a:r>
          </a:p>
          <a:p>
            <a:pPr>
              <a:lnSpc>
                <a:spcPct val="150000"/>
              </a:lnSpc>
            </a:pPr>
            <a:r>
              <a:rPr lang="fr-FR" sz="2000" dirty="0" smtClean="0"/>
              <a:t>Les parents peuvent </a:t>
            </a:r>
            <a:r>
              <a:rPr lang="fr-FR" sz="2000" b="1" dirty="0" smtClean="0"/>
              <a:t>consulter</a:t>
            </a:r>
            <a:r>
              <a:rPr lang="fr-FR" sz="2000" dirty="0" smtClean="0"/>
              <a:t> les ateliers disponibles. </a:t>
            </a:r>
          </a:p>
          <a:p>
            <a:pPr>
              <a:lnSpc>
                <a:spcPct val="150000"/>
              </a:lnSpc>
            </a:pPr>
            <a:r>
              <a:rPr lang="fr-FR" sz="2000" dirty="0" smtClean="0"/>
              <a:t>Grâce à la fonctionnalité « Réserver maintenant », ils peuvent effectuer une demande de réservation et suivre son évolution depuis leur tableau de bord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999745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D45DB8F-63AB-8F6A-1F24-B53FF8A5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9B04126C-DAB3-4DE6-8567-4DCBACC2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804396"/>
            <a:ext cx="11016045" cy="716823"/>
          </a:xfrm>
        </p:spPr>
        <p:txBody>
          <a:bodyPr rtlCol="0">
            <a:normAutofit/>
          </a:bodyPr>
          <a:lstStyle/>
          <a:p>
            <a:pPr algn="ctr"/>
            <a:r>
              <a:rPr lang="fr-FR" sz="3200" b="1" dirty="0"/>
              <a:t>FONCTIONNALITÉS PRINCIPALES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317BFAED-81F9-3EDC-CE31-69E4BB681CA8}"/>
              </a:ext>
            </a:extLst>
          </p:cNvPr>
          <p:cNvSpPr txBox="1"/>
          <p:nvPr/>
        </p:nvSpPr>
        <p:spPr>
          <a:xfrm>
            <a:off x="511479" y="2093345"/>
            <a:ext cx="11155471" cy="4431983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/>
              <a:t>3.</a:t>
            </a:r>
            <a:r>
              <a:rPr lang="fr-FR" sz="2400" b="1" dirty="0"/>
              <a:t> Gestion des réservations et des statuts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L’administrateur peut consulter l’ensemble des demandes de réservation et mettre à jour leur statut selon la situation administrative : En attente, Payé ou Annulée. Cette fonctionnalité facilite le suivi des inscriptions et améliore l’organisation des ateliers</a:t>
            </a:r>
            <a:r>
              <a:rPr lang="fr-FR" sz="2000" dirty="0" smtClean="0"/>
              <a:t>.</a:t>
            </a:r>
          </a:p>
          <a:p>
            <a:pPr>
              <a:lnSpc>
                <a:spcPct val="150000"/>
              </a:lnSpc>
            </a:pPr>
            <a:endParaRPr lang="fr-FR" sz="2000" dirty="0"/>
          </a:p>
          <a:p>
            <a:pPr>
              <a:lnSpc>
                <a:spcPct val="150000"/>
              </a:lnSpc>
            </a:pPr>
            <a:r>
              <a:rPr lang="fr-FR" sz="2000" b="1" dirty="0"/>
              <a:t>4</a:t>
            </a:r>
            <a:r>
              <a:rPr lang="fr-FR" sz="2400" b="1" dirty="0"/>
              <a:t>. Génération automatique des rapports pédagogiques PDF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Les formateurs </a:t>
            </a:r>
            <a:r>
              <a:rPr lang="fr-FR" sz="2000" dirty="0" smtClean="0"/>
              <a:t>permettant </a:t>
            </a:r>
            <a:r>
              <a:rPr lang="fr-FR" sz="2000" dirty="0"/>
              <a:t>de saisir les informations pédagogiques relatives à chaque élève (présence, compétences, observations et évaluations). Le système génère automatiquement un rapport professionnel au format PDF prêt à être téléchargé ou partagé.</a:t>
            </a:r>
          </a:p>
        </p:txBody>
      </p:sp>
    </p:spTree>
    <p:extLst>
      <p:ext uri="{BB962C8B-B14F-4D97-AF65-F5344CB8AC3E}">
        <p14:creationId xmlns:p14="http://schemas.microsoft.com/office/powerpoint/2010/main" val="487344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633139-0DB1-36A1-3E08-E96DB39F5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15FAF20F-2034-0D34-4092-BEBE76DEF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804396"/>
            <a:ext cx="11016045" cy="716823"/>
          </a:xfrm>
        </p:spPr>
        <p:txBody>
          <a:bodyPr rtlCol="0">
            <a:normAutofit/>
          </a:bodyPr>
          <a:lstStyle/>
          <a:p>
            <a:pPr algn="ctr"/>
            <a:r>
              <a:rPr lang="fr-FR" sz="3200" b="1" dirty="0"/>
              <a:t>FONCTIONNALITÉS PRINCIPALES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B0B7051-FA4C-B297-E472-FE383AD38B23}"/>
              </a:ext>
            </a:extLst>
          </p:cNvPr>
          <p:cNvSpPr txBox="1"/>
          <p:nvPr/>
        </p:nvSpPr>
        <p:spPr>
          <a:xfrm>
            <a:off x="518264" y="2345593"/>
            <a:ext cx="11155471" cy="3508653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dirty="0"/>
              <a:t>5.</a:t>
            </a:r>
            <a:r>
              <a:rPr lang="fr-FR" sz="2400" b="1" dirty="0"/>
              <a:t> Envoi des </a:t>
            </a:r>
            <a:r>
              <a:rPr lang="fr-FR" sz="2400" b="1"/>
              <a:t>rapports </a:t>
            </a:r>
            <a:endParaRPr lang="fr-FR" sz="2400" b="1" dirty="0" smtClean="0"/>
          </a:p>
          <a:p>
            <a:pPr>
              <a:lnSpc>
                <a:spcPct val="150000"/>
              </a:lnSpc>
            </a:pPr>
            <a:r>
              <a:rPr lang="fr-FR" sz="2000" dirty="0" smtClean="0"/>
              <a:t>Une </a:t>
            </a:r>
            <a:r>
              <a:rPr lang="fr-FR" sz="2000" dirty="0"/>
              <a:t>fois le rapport généré, le formateur peut </a:t>
            </a:r>
            <a:r>
              <a:rPr lang="fr-FR" sz="2000" b="1" dirty="0"/>
              <a:t>l’envoyer</a:t>
            </a:r>
            <a:r>
              <a:rPr lang="fr-FR" sz="2000" dirty="0"/>
              <a:t> directement au parent par courrier électronique avec le document PDF en pièce jointe. </a:t>
            </a:r>
            <a:endParaRPr lang="fr-FR" sz="2000" dirty="0" smtClean="0"/>
          </a:p>
          <a:p>
            <a:pPr>
              <a:lnSpc>
                <a:spcPct val="150000"/>
              </a:lnSpc>
            </a:pPr>
            <a:endParaRPr lang="fr-FR" sz="2000" dirty="0" smtClean="0"/>
          </a:p>
          <a:p>
            <a:pPr>
              <a:lnSpc>
                <a:spcPct val="150000"/>
              </a:lnSpc>
            </a:pPr>
            <a:r>
              <a:rPr lang="fr-FR" sz="2400" b="1" dirty="0" smtClean="0">
                <a:solidFill>
                  <a:prstClr val="black"/>
                </a:solidFill>
              </a:rPr>
              <a:t>6. </a:t>
            </a:r>
            <a:r>
              <a:rPr lang="fr-FR" sz="2400" b="1" dirty="0"/>
              <a:t>gestion des accès</a:t>
            </a:r>
          </a:p>
          <a:p>
            <a:pPr>
              <a:lnSpc>
                <a:spcPct val="150000"/>
              </a:lnSpc>
            </a:pPr>
            <a:r>
              <a:rPr lang="fr-FR" sz="2000" dirty="0" smtClean="0"/>
              <a:t>Le </a:t>
            </a:r>
            <a:r>
              <a:rPr lang="fr-FR" sz="2000" dirty="0"/>
              <a:t>système intègre également une gestion des rôles (Administrateur, Parent et Formateur) garantissant que chaque utilisateur accède uniquement aux fonctionnalités et aux informations qui lui sont autorisées.</a:t>
            </a:r>
            <a:endParaRPr lang="fr-FR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41741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BE6C7F-BCFE-2A6B-6BF2-A620D2FEB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CONCEPTION (CAS D'UTILISATION)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48774D36-8182-6F1A-9C88-5232EF36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329" y="1931014"/>
            <a:ext cx="8053342" cy="484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083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15783B3-6710-8DB7-8947-B0A51E62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1E8899B-D1AB-6FF4-5C05-D296DC03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CONCEPTION (diagramme De classe)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C207032-4032-AB82-0FF6-A3EB0C193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26" y="2063415"/>
            <a:ext cx="6457829" cy="4510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548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9F6F9C-E23C-DE7F-F822-7E13C8623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6B713EC-9578-70B2-D053-17374851C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CHOIX TECHNIQUES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4BF16A9-1D02-D4D2-F662-9E4DB130E648}"/>
              </a:ext>
            </a:extLst>
          </p:cNvPr>
          <p:cNvSpPr txBox="1"/>
          <p:nvPr/>
        </p:nvSpPr>
        <p:spPr>
          <a:xfrm>
            <a:off x="833378" y="2384384"/>
            <a:ext cx="11182364" cy="3370153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 err="1"/>
              <a:t>Front-End</a:t>
            </a:r>
            <a:endParaRPr lang="fr-FR" sz="2800" b="1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React.js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Bootstrap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 err="1"/>
              <a:t>Back-End</a:t>
            </a:r>
            <a:endParaRPr lang="fr-FR" sz="2800" b="1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 err="1"/>
              <a:t>Laravel</a:t>
            </a:r>
            <a:r>
              <a:rPr lang="fr-FR" sz="2000" dirty="0"/>
              <a:t>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/>
              <a:t>Base de données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 MySQL</a:t>
            </a:r>
            <a:r>
              <a:rPr lang="fr-FR" dirty="0"/>
              <a:t>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/>
              <a:t>Outils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VS Code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GitHub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Postman</a:t>
            </a:r>
          </a:p>
          <a:p>
            <a:pPr>
              <a:lnSpc>
                <a:spcPct val="150000"/>
              </a:lnSpc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225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851A479-64A4-26F8-EB68-39D5624B4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A0B8589-AEC2-2F1C-51C5-35A7E0BFF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RÉALISATION – DÉMONSTRATION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6A50FB5-9F5E-6EA9-5D65-D0C67AE45200}"/>
              </a:ext>
            </a:extLst>
          </p:cNvPr>
          <p:cNvSpPr txBox="1"/>
          <p:nvPr/>
        </p:nvSpPr>
        <p:spPr>
          <a:xfrm>
            <a:off x="544009" y="2303359"/>
            <a:ext cx="10284412" cy="433965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b="1" dirty="0"/>
              <a:t>Scénario principal : Réservation d’un </a:t>
            </a:r>
            <a:r>
              <a:rPr lang="fr-FR" sz="2400" b="1" dirty="0" smtClean="0"/>
              <a:t>atelier</a:t>
            </a:r>
          </a:p>
          <a:p>
            <a:pPr>
              <a:lnSpc>
                <a:spcPct val="150000"/>
              </a:lnSpc>
            </a:pPr>
            <a:r>
              <a:rPr lang="fr-FR" sz="2000" dirty="0" smtClean="0"/>
              <a:t>1</a:t>
            </a:r>
            <a:r>
              <a:rPr lang="fr-FR" sz="2000" dirty="0"/>
              <a:t>. Le parent crée un compte à travers le formulaire d’inscription.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2. Il se connecte à son espace personnel.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3. Il consulte les ateliers disponibles.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4. Il sélectionne un atelier et clique sur « Réserver maintenant ».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5. Le système enregistre la demande de réservation et affiche un message de confirmation.</a:t>
            </a:r>
          </a:p>
          <a:p>
            <a:pPr>
              <a:lnSpc>
                <a:spcPct val="150000"/>
              </a:lnSpc>
            </a:pPr>
            <a:r>
              <a:rPr lang="fr-FR" sz="2000" dirty="0"/>
              <a:t>6. La réservation apparaît dans l’espace du parent avec le statut « En attente </a:t>
            </a:r>
            <a:r>
              <a:rPr lang="fr-FR" sz="2000" dirty="0" smtClean="0"/>
              <a:t>».</a:t>
            </a:r>
          </a:p>
          <a:p>
            <a:pPr>
              <a:lnSpc>
                <a:spcPct val="150000"/>
              </a:lnSpc>
            </a:pPr>
            <a:r>
              <a:rPr lang="fr-FR" sz="2000" b="1" dirty="0"/>
              <a:t>7. </a:t>
            </a:r>
            <a:r>
              <a:rPr lang="fr-FR" sz="2000" dirty="0"/>
              <a:t>L’administrateur consulte les demandes reçues et met à jour leur statut (En attente, Payé ou Annulée).</a:t>
            </a:r>
          </a:p>
        </p:txBody>
      </p:sp>
    </p:spTree>
    <p:extLst>
      <p:ext uri="{BB962C8B-B14F-4D97-AF65-F5344CB8AC3E}">
        <p14:creationId xmlns:p14="http://schemas.microsoft.com/office/powerpoint/2010/main" val="1257868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47F74EB-9290-1E83-D779-BDFB9CA6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99BD84-491B-DD4C-C270-2429AFF76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RÉALISATION – DÉMONSTRATION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0FE6262-0D91-637A-12EB-B9FEC728A08C}"/>
              </a:ext>
            </a:extLst>
          </p:cNvPr>
          <p:cNvSpPr txBox="1"/>
          <p:nvPr/>
        </p:nvSpPr>
        <p:spPr>
          <a:xfrm>
            <a:off x="544009" y="2303359"/>
            <a:ext cx="11460157" cy="383181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b="1" dirty="0" smtClean="0"/>
              <a:t>8</a:t>
            </a:r>
            <a:r>
              <a:rPr lang="fr-FR" b="1" dirty="0"/>
              <a:t>. </a:t>
            </a:r>
            <a:r>
              <a:rPr lang="fr-FR" dirty="0"/>
              <a:t>Le formateur accède à son espace de travail et sélectionne l’élève concerné.</a:t>
            </a:r>
          </a:p>
          <a:p>
            <a:pPr>
              <a:lnSpc>
                <a:spcPct val="150000"/>
              </a:lnSpc>
            </a:pPr>
            <a:r>
              <a:rPr lang="fr-FR" b="1" dirty="0"/>
              <a:t>9. </a:t>
            </a:r>
            <a:r>
              <a:rPr lang="fr-FR" dirty="0"/>
              <a:t>Il choisit l’atelier ainsi que la période pédagogique.</a:t>
            </a:r>
          </a:p>
          <a:p>
            <a:pPr>
              <a:lnSpc>
                <a:spcPct val="150000"/>
              </a:lnSpc>
            </a:pPr>
            <a:r>
              <a:rPr lang="fr-FR" b="1" dirty="0"/>
              <a:t>10. </a:t>
            </a:r>
            <a:r>
              <a:rPr lang="fr-FR" dirty="0"/>
              <a:t>Il saisit les informations relatives à l’élève (présence, compétences, observations et évaluations).</a:t>
            </a:r>
          </a:p>
          <a:p>
            <a:pPr>
              <a:lnSpc>
                <a:spcPct val="150000"/>
              </a:lnSpc>
            </a:pPr>
            <a:r>
              <a:rPr lang="fr-FR" b="1" dirty="0"/>
              <a:t>11. </a:t>
            </a:r>
            <a:r>
              <a:rPr lang="fr-FR" dirty="0"/>
              <a:t>Le système génère automatiquement un rapport pédagogique au format PDF.</a:t>
            </a:r>
          </a:p>
          <a:p>
            <a:pPr>
              <a:lnSpc>
                <a:spcPct val="150000"/>
              </a:lnSpc>
            </a:pPr>
            <a:r>
              <a:rPr lang="fr-FR" b="1" dirty="0"/>
              <a:t>12. </a:t>
            </a:r>
            <a:r>
              <a:rPr lang="fr-FR" dirty="0"/>
              <a:t>Le formateur peut télécharger le rapport ou l’envoyer directement au parent par courrier électronique grâce au serveur SMTP intégré.</a:t>
            </a:r>
          </a:p>
          <a:p>
            <a:pPr>
              <a:lnSpc>
                <a:spcPct val="150000"/>
              </a:lnSpc>
            </a:pPr>
            <a:r>
              <a:rPr lang="fr-FR" b="1" dirty="0"/>
              <a:t>13. </a:t>
            </a:r>
            <a:r>
              <a:rPr lang="fr-FR" dirty="0"/>
              <a:t>Le parent reçoit le rapport PDF par email.</a:t>
            </a:r>
          </a:p>
          <a:p>
            <a:pPr>
              <a:lnSpc>
                <a:spcPct val="150000"/>
              </a:lnSpc>
            </a:pPr>
            <a:r>
              <a:rPr lang="fr-FR" b="1" dirty="0"/>
              <a:t>14</a:t>
            </a:r>
            <a:r>
              <a:rPr lang="fr-FR" dirty="0"/>
              <a:t>. Le rapport est également accessible depuis l’espace personnel du parent afin qu’il puisse consulter l’historique du suivi pédagogique de son enfant.</a:t>
            </a:r>
          </a:p>
        </p:txBody>
      </p:sp>
    </p:spTree>
    <p:extLst>
      <p:ext uri="{BB962C8B-B14F-4D97-AF65-F5344CB8AC3E}">
        <p14:creationId xmlns:p14="http://schemas.microsoft.com/office/powerpoint/2010/main" val="39862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B5B276B-1AED-38E2-5045-40BE7B6E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B1B40B3-BB8D-7571-03C4-06BF332B4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DIFFICULTÉS RENCONTRÉES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9EBDC30-A7EC-82BC-E0A2-2F98E7184410}"/>
              </a:ext>
            </a:extLst>
          </p:cNvPr>
          <p:cNvSpPr txBox="1"/>
          <p:nvPr/>
        </p:nvSpPr>
        <p:spPr>
          <a:xfrm>
            <a:off x="690050" y="3211102"/>
            <a:ext cx="11182364" cy="2069413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/>
              <a:t>Difficultés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Conception de la base de données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Gestion des relations entre les entités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Génération des rapports PDF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/>
              <a:t>Solutions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Réorganisation du modèle de données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Validation progressive des fonctionnalités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Utilisation d'outils adaptés sous </a:t>
            </a:r>
            <a:r>
              <a:rPr lang="fr-FR" sz="2000" dirty="0" err="1"/>
              <a:t>Laravel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700088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B5B276B-1AED-38E2-5045-40BE7B6E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B1B40B3-BB8D-7571-03C4-06BF332B4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BILAN &amp; AMÉLIORATIONS POSSIBLES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9EBDC30-A7EC-82BC-E0A2-2F98E7184410}"/>
              </a:ext>
            </a:extLst>
          </p:cNvPr>
          <p:cNvSpPr txBox="1"/>
          <p:nvPr/>
        </p:nvSpPr>
        <p:spPr>
          <a:xfrm>
            <a:off x="354770" y="1873828"/>
            <a:ext cx="11182364" cy="397031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b="1" dirty="0"/>
              <a:t>Ce qui a été </a:t>
            </a:r>
            <a:r>
              <a:rPr lang="fr-FR" sz="2400" b="1" dirty="0" smtClean="0"/>
              <a:t>réussi</a:t>
            </a:r>
          </a:p>
          <a:p>
            <a:pPr>
              <a:lnSpc>
                <a:spcPct val="150000"/>
              </a:lnSpc>
            </a:pPr>
            <a:endParaRPr lang="fr-FR" sz="2400" b="1" dirty="0"/>
          </a:p>
          <a:p>
            <a:pPr>
              <a:lnSpc>
                <a:spcPct val="150000"/>
              </a:lnSpc>
            </a:pPr>
            <a:r>
              <a:rPr lang="fr-FR" sz="2400" dirty="0"/>
              <a:t>• Authentification et gestion des rôles</a:t>
            </a:r>
            <a:br>
              <a:rPr lang="fr-FR" sz="2400" dirty="0"/>
            </a:br>
            <a:r>
              <a:rPr lang="fr-FR" sz="2400" dirty="0"/>
              <a:t>• Gestion des réservations et des statuts</a:t>
            </a:r>
            <a:br>
              <a:rPr lang="fr-FR" sz="2400" dirty="0"/>
            </a:br>
            <a:r>
              <a:rPr lang="fr-FR" sz="2400" dirty="0"/>
              <a:t>• Génération automatique des rapports PDF</a:t>
            </a:r>
            <a:br>
              <a:rPr lang="fr-FR" sz="2400" dirty="0"/>
            </a:br>
            <a:r>
              <a:rPr lang="fr-FR" sz="2400" dirty="0"/>
              <a:t>• Envoi des rapports par email</a:t>
            </a:r>
            <a:br>
              <a:rPr lang="fr-FR" sz="2400" dirty="0"/>
            </a:br>
            <a:r>
              <a:rPr lang="fr-FR" sz="2400" dirty="0"/>
              <a:t>• Historique des rapports et espace parent</a:t>
            </a:r>
            <a:endParaRPr lang="fr-FR" sz="2400" b="1" dirty="0"/>
          </a:p>
        </p:txBody>
      </p:sp>
    </p:spTree>
    <p:extLst>
      <p:ext uri="{BB962C8B-B14F-4D97-AF65-F5344CB8AC3E}">
        <p14:creationId xmlns:p14="http://schemas.microsoft.com/office/powerpoint/2010/main" val="4010050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C3E6F08-62F9-A22A-8FE4-20593DDC1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5FD4222-0C2F-3CD2-B6A6-87B3A3F86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BILAN &amp; AMÉLIORATIONS POSSIBLES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562EAC6-AF9F-2A83-1C83-E76F5E861F4C}"/>
              </a:ext>
            </a:extLst>
          </p:cNvPr>
          <p:cNvSpPr txBox="1"/>
          <p:nvPr/>
        </p:nvSpPr>
        <p:spPr>
          <a:xfrm>
            <a:off x="647058" y="2074935"/>
            <a:ext cx="11544942" cy="433965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sz="2400" b="1" dirty="0"/>
              <a:t>Améliorations possibles</a:t>
            </a:r>
          </a:p>
          <a:p>
            <a:pPr algn="just">
              <a:lnSpc>
                <a:spcPct val="150000"/>
              </a:lnSpc>
            </a:pPr>
            <a:r>
              <a:rPr lang="fr-FR" sz="2000" dirty="0"/>
              <a:t>Plusieurs améliorations pourraient être apportées dans une future version de l’application </a:t>
            </a:r>
            <a:r>
              <a:rPr lang="fr-FR" sz="2000" dirty="0" smtClean="0"/>
              <a:t>:</a:t>
            </a:r>
          </a:p>
          <a:p>
            <a:pPr algn="just">
              <a:lnSpc>
                <a:spcPct val="150000"/>
              </a:lnSpc>
            </a:pPr>
            <a:endParaRPr lang="fr-FR" sz="2000" dirty="0" smtClean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2000" dirty="0"/>
              <a:t>Paiement en </a:t>
            </a:r>
            <a:r>
              <a:rPr lang="fr-FR" sz="2000" dirty="0" smtClean="0"/>
              <a:t>ligne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2000" dirty="0" smtClean="0"/>
              <a:t>Annulation </a:t>
            </a:r>
            <a:r>
              <a:rPr lang="fr-FR" sz="2000" dirty="0"/>
              <a:t>des réservations par les </a:t>
            </a:r>
            <a:r>
              <a:rPr lang="fr-FR" sz="2000" dirty="0" smtClean="0"/>
              <a:t>parents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2000" dirty="0" smtClean="0"/>
              <a:t>Gestion </a:t>
            </a:r>
            <a:r>
              <a:rPr lang="fr-FR" sz="2000" dirty="0"/>
              <a:t>de plusieurs enfants par </a:t>
            </a:r>
            <a:r>
              <a:rPr lang="fr-FR" sz="2000" dirty="0" smtClean="0"/>
              <a:t>un seule parent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2000" dirty="0" smtClean="0"/>
              <a:t> </a:t>
            </a:r>
            <a:r>
              <a:rPr lang="fr-FR" sz="2000" dirty="0"/>
              <a:t>Notifications </a:t>
            </a:r>
            <a:r>
              <a:rPr lang="fr-FR" sz="2000" dirty="0" smtClean="0"/>
              <a:t>automatiques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2000" dirty="0" smtClean="0"/>
              <a:t>Chaque formateur doit </a:t>
            </a:r>
            <a:r>
              <a:rPr lang="fr-FR" sz="2000" dirty="0" err="1" smtClean="0"/>
              <a:t>posséde</a:t>
            </a:r>
            <a:r>
              <a:rPr lang="fr-FR" sz="2000" dirty="0" smtClean="0"/>
              <a:t> juste ses propres atelier 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2000" dirty="0" err="1" smtClean="0"/>
              <a:t>UtilisaGénération</a:t>
            </a:r>
            <a:r>
              <a:rPr lang="fr-FR" sz="2000" dirty="0" smtClean="0"/>
              <a:t> des </a:t>
            </a:r>
            <a:r>
              <a:rPr lang="fr-FR" sz="2000" dirty="0" err="1" smtClean="0"/>
              <a:t>rappoorts</a:t>
            </a:r>
            <a:r>
              <a:rPr lang="fr-FR" sz="2000" dirty="0" smtClean="0"/>
              <a:t> par </a:t>
            </a:r>
            <a:r>
              <a:rPr lang="fr-FR" sz="2000" dirty="0" err="1" smtClean="0"/>
              <a:t>plusiers</a:t>
            </a:r>
            <a:r>
              <a:rPr lang="fr-FR" sz="2000" dirty="0" smtClean="0"/>
              <a:t> formateur au lieu d’n seule </a:t>
            </a:r>
          </a:p>
        </p:txBody>
      </p:sp>
    </p:spTree>
    <p:extLst>
      <p:ext uri="{BB962C8B-B14F-4D97-AF65-F5344CB8AC3E}">
        <p14:creationId xmlns:p14="http://schemas.microsoft.com/office/powerpoint/2010/main" val="122770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AD2E1F8-4DC5-EE56-1D28-3D1D2D1B8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8DA8F7-2E67-566D-3153-D71FF3CFE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BILAN &amp; AMÉLIORATIONS POSSIBLES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F2B764A-C92D-B13C-86EB-F208605AF705}"/>
              </a:ext>
            </a:extLst>
          </p:cNvPr>
          <p:cNvSpPr txBox="1"/>
          <p:nvPr/>
        </p:nvSpPr>
        <p:spPr>
          <a:xfrm>
            <a:off x="422443" y="1649266"/>
            <a:ext cx="11280782" cy="4801314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sz="2400" b="1" dirty="0"/>
              <a:t>Compétences développées</a:t>
            </a:r>
          </a:p>
          <a:p>
            <a:pPr algn="just">
              <a:lnSpc>
                <a:spcPct val="150000"/>
              </a:lnSpc>
            </a:pPr>
            <a:r>
              <a:rPr lang="fr-FR" sz="2000" dirty="0"/>
              <a:t>La réalisation de ce projet m’a permis de développer plusieurs compétences techniques et méthodologiques </a:t>
            </a:r>
            <a:r>
              <a:rPr lang="fr-FR" sz="2000" dirty="0" smtClean="0"/>
              <a:t>:</a:t>
            </a:r>
          </a:p>
          <a:p>
            <a:pPr algn="just">
              <a:lnSpc>
                <a:spcPct val="150000"/>
              </a:lnSpc>
            </a:pPr>
            <a:endParaRPr lang="fr-FR" sz="2000" dirty="0" smtClean="0"/>
          </a:p>
          <a:p>
            <a:pPr algn="just">
              <a:lnSpc>
                <a:spcPct val="150000"/>
              </a:lnSpc>
            </a:pPr>
            <a:r>
              <a:rPr lang="fr-FR" sz="2000" dirty="0"/>
              <a:t>• Analyse des </a:t>
            </a:r>
            <a:r>
              <a:rPr lang="fr-FR" sz="2000" dirty="0" smtClean="0"/>
              <a:t>besoins</a:t>
            </a:r>
          </a:p>
          <a:p>
            <a:pPr algn="just">
              <a:lnSpc>
                <a:spcPct val="150000"/>
              </a:lnSpc>
            </a:pPr>
            <a:r>
              <a:rPr lang="fr-FR" sz="2000" dirty="0" smtClean="0"/>
              <a:t>• </a:t>
            </a:r>
            <a:r>
              <a:rPr lang="fr-FR" sz="2000" dirty="0"/>
              <a:t>Conception de base de </a:t>
            </a:r>
            <a:r>
              <a:rPr lang="fr-FR" sz="2000" dirty="0" smtClean="0"/>
              <a:t>données</a:t>
            </a:r>
          </a:p>
          <a:p>
            <a:pPr algn="just">
              <a:lnSpc>
                <a:spcPct val="150000"/>
              </a:lnSpc>
            </a:pPr>
            <a:r>
              <a:rPr lang="fr-FR" sz="2000" dirty="0" smtClean="0"/>
              <a:t>• </a:t>
            </a:r>
            <a:r>
              <a:rPr lang="fr-FR" sz="2000" dirty="0" err="1"/>
              <a:t>Laravel</a:t>
            </a:r>
            <a:r>
              <a:rPr lang="fr-FR" sz="2000" dirty="0"/>
              <a:t> et architecture </a:t>
            </a:r>
            <a:r>
              <a:rPr lang="fr-FR" sz="2000" dirty="0" smtClean="0"/>
              <a:t>MVC</a:t>
            </a:r>
          </a:p>
          <a:p>
            <a:pPr algn="just">
              <a:lnSpc>
                <a:spcPct val="150000"/>
              </a:lnSpc>
            </a:pPr>
            <a:r>
              <a:rPr lang="fr-FR" sz="2000" dirty="0" smtClean="0"/>
              <a:t>• </a:t>
            </a:r>
            <a:r>
              <a:rPr lang="fr-FR" sz="2000" dirty="0"/>
              <a:t>Génération de </a:t>
            </a:r>
            <a:r>
              <a:rPr lang="fr-FR" sz="2000" dirty="0" smtClean="0"/>
              <a:t>PDF</a:t>
            </a:r>
          </a:p>
          <a:p>
            <a:pPr algn="just">
              <a:lnSpc>
                <a:spcPct val="150000"/>
              </a:lnSpc>
            </a:pPr>
            <a:r>
              <a:rPr lang="fr-FR" sz="2000" dirty="0" smtClean="0"/>
              <a:t>• </a:t>
            </a:r>
            <a:r>
              <a:rPr lang="fr-FR" sz="2000" dirty="0"/>
              <a:t>Envoi d’emails avec </a:t>
            </a:r>
            <a:r>
              <a:rPr lang="fr-FR" sz="2000" dirty="0" smtClean="0"/>
              <a:t>SMTP</a:t>
            </a:r>
          </a:p>
          <a:p>
            <a:pPr algn="just">
              <a:lnSpc>
                <a:spcPct val="150000"/>
              </a:lnSpc>
            </a:pPr>
            <a:r>
              <a:rPr lang="fr-FR" sz="2000" dirty="0" smtClean="0"/>
              <a:t>• </a:t>
            </a:r>
            <a:r>
              <a:rPr lang="fr-FR" sz="2000" dirty="0"/>
              <a:t>Git et </a:t>
            </a:r>
            <a:r>
              <a:rPr lang="fr-FR" sz="2000" dirty="0" err="1" smtClean="0"/>
              <a:t>GitHub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735457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7EE8B74-7883-4647-0B47-9708F981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B5EF65D-88F4-5AE9-0DFB-E624FE21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09" y="856526"/>
            <a:ext cx="11029616" cy="583671"/>
          </a:xfrm>
        </p:spPr>
        <p:txBody>
          <a:bodyPr/>
          <a:lstStyle/>
          <a:p>
            <a:pPr algn="ctr"/>
            <a:r>
              <a:rPr lang="fr-FR" dirty="0"/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7867CDC-4B39-158B-8C10-0F12846C1A90}"/>
              </a:ext>
            </a:extLst>
          </p:cNvPr>
          <p:cNvSpPr txBox="1"/>
          <p:nvPr/>
        </p:nvSpPr>
        <p:spPr>
          <a:xfrm>
            <a:off x="690050" y="3211102"/>
            <a:ext cx="11182364" cy="283154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sz="2800" b="1" dirty="0"/>
              <a:t>Intérêt du projet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Simplifier la gestion des inscriptions et réservations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Centraliser les informations des parents et des enfants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Améliorer le suivi pédagogique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/>
              <a:t>Faciliter le travail </a:t>
            </a:r>
            <a:r>
              <a:rPr lang="fr-FR" sz="2000" dirty="0" smtClean="0"/>
              <a:t>administratif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2800" b="1" dirty="0" smtClean="0"/>
              <a:t>Remerciements</a:t>
            </a:r>
            <a:endParaRPr lang="fr-FR" sz="2000" b="1" dirty="0" smtClean="0"/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 smtClean="0"/>
              <a:t>Merci Mme </a:t>
            </a:r>
            <a:r>
              <a:rPr lang="fr-FR" sz="2000" dirty="0" err="1" smtClean="0"/>
              <a:t>Asmae</a:t>
            </a:r>
            <a:r>
              <a:rPr lang="fr-FR" sz="2000" dirty="0" smtClean="0"/>
              <a:t>  </a:t>
            </a:r>
            <a:r>
              <a:rPr lang="fr-FR" sz="2000" dirty="0" err="1" smtClean="0"/>
              <a:t>Youala</a:t>
            </a:r>
            <a:r>
              <a:rPr lang="fr-FR" sz="2000" dirty="0" smtClean="0"/>
              <a:t> pour votre son accompagne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000" dirty="0" smtClean="0"/>
              <a:t>Merci a tous pour votre attention 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009917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A9CB511D-EA45-4336-847C-1252667143B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8663" y="3269293"/>
            <a:ext cx="11874674" cy="2468718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endParaRPr lang="fr-FR" dirty="0">
              <a:solidFill>
                <a:schemeClr val="bg2"/>
              </a:solidFill>
            </a:endParaRPr>
          </a:p>
          <a:p>
            <a:pPr rtl="0"/>
            <a:endParaRPr lang="fr-FR" dirty="0">
              <a:solidFill>
                <a:schemeClr val="bg2"/>
              </a:solidFill>
            </a:endParaRPr>
          </a:p>
          <a:p>
            <a:pPr rtl="0"/>
            <a:endParaRPr lang="fr-FR" dirty="0">
              <a:solidFill>
                <a:schemeClr val="bg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54E81D4-D5D4-0DD5-A785-C853DF72C639}"/>
              </a:ext>
            </a:extLst>
          </p:cNvPr>
          <p:cNvSpPr txBox="1"/>
          <p:nvPr/>
        </p:nvSpPr>
        <p:spPr>
          <a:xfrm>
            <a:off x="2801654" y="2767280"/>
            <a:ext cx="65886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Merci pour  </a:t>
            </a:r>
            <a:r>
              <a:rPr lang="en-US" sz="4000" b="1" dirty="0" err="1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Votre</a:t>
            </a:r>
            <a:r>
              <a:rPr lang="en-US" sz="40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Attention</a:t>
            </a:r>
            <a:endParaRPr lang="fr-FR" sz="40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2132</TotalTime>
  <Words>978</Words>
  <Application>Microsoft Office PowerPoint</Application>
  <PresentationFormat>Grand écran</PresentationFormat>
  <Paragraphs>156</Paragraphs>
  <Slides>20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6" baseType="lpstr">
      <vt:lpstr>Arial</vt:lpstr>
      <vt:lpstr>Calibri</vt:lpstr>
      <vt:lpstr>Gill Sans MT</vt:lpstr>
      <vt:lpstr>Wingdings</vt:lpstr>
      <vt:lpstr>Wingdings 2</vt:lpstr>
      <vt:lpstr>Personnalisé</vt:lpstr>
      <vt:lpstr>Présentation PowerPoint</vt:lpstr>
      <vt:lpstr>SOMMAIRE</vt:lpstr>
      <vt:lpstr>introduction</vt:lpstr>
      <vt:lpstr>introduction</vt:lpstr>
      <vt:lpstr>introduction</vt:lpstr>
      <vt:lpstr>Problématique</vt:lpstr>
      <vt:lpstr>FONCTIONNALITÉS PRINCIPALES</vt:lpstr>
      <vt:lpstr>FONCTIONNALITÉS PRINCIPALES</vt:lpstr>
      <vt:lpstr>FONCTIONNALITÉS PRINCIPALES</vt:lpstr>
      <vt:lpstr>CONCEPTION (CAS D'UTILISATION)</vt:lpstr>
      <vt:lpstr>CONCEPTION (diagramme De classe)</vt:lpstr>
      <vt:lpstr>CHOIX TECHNIQUES</vt:lpstr>
      <vt:lpstr>RÉALISATION – DÉMONSTRATION</vt:lpstr>
      <vt:lpstr>RÉALISATION – DÉMONSTRATION</vt:lpstr>
      <vt:lpstr>DIFFICULTÉS RENCONTRÉES</vt:lpstr>
      <vt:lpstr>BILAN &amp; AMÉLIORATIONS POSSIBLES</vt:lpstr>
      <vt:lpstr>BILAN &amp; AMÉLIORATIONS POSSIBLES</vt:lpstr>
      <vt:lpstr>BILAN &amp; AMÉLIORATIONS POSSIBLES</vt:lpstr>
      <vt:lpstr>Conclusion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Sarah Tai</dc:creator>
  <cp:lastModifiedBy>Compte Microsoft</cp:lastModifiedBy>
  <cp:revision>34</cp:revision>
  <cp:lastPrinted>2026-06-07T23:23:32Z</cp:lastPrinted>
  <dcterms:created xsi:type="dcterms:W3CDTF">2026-06-06T00:30:46Z</dcterms:created>
  <dcterms:modified xsi:type="dcterms:W3CDTF">2026-06-11T15:49:02Z</dcterms:modified>
</cp:coreProperties>
</file>